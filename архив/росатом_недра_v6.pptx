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notesSlides/notesSlide21.xml" ContentType="application/vnd.openxmlformats-officedocument.presentationml.notesSlide+xml"/>
  <Override PartName="/ppt/charts/chart10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5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млн т</c:v>
                </c:pt>
              </c:strCache>
            </c:strRef>
          </c:tx>
          <c:spPr>
            <a:solidFill>
              <a:srgbClr val="1A6D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5B-074D-9043-8E4A7D4BA54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B5B-074D-9043-8E4A7D4BA54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B5B-074D-9043-8E4A7D4BA54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B5B-074D-9043-8E4A7D4BA54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B5B-074D-9043-8E4A7D4BA54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B5B-074D-9043-8E4A7D4BA54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B5B-074D-9043-8E4A7D4BA54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B5B-074D-9043-8E4A7D4BA54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B5B-074D-9043-8E4A7D4BA54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AB5B-074D-9043-8E4A7D4BA54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AB5B-074D-9043-8E4A7D4BA54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B5B-074D-9043-8E4A7D4BA54B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AB5B-074D-9043-8E4A7D4BA54B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B5B-074D-9043-8E4A7D4BA54B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AB5B-074D-9043-8E4A7D4BA54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AB5B-074D-9043-8E4A7D4BA54B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AB5B-074D-9043-8E4A7D4BA54B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AB5B-074D-9043-8E4A7D4BA54B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AB5B-074D-9043-8E4A7D4BA54B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AB5B-074D-9043-8E4A7D4BA54B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AB5B-074D-9043-8E4A7D4BA54B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AB5B-074D-9043-8E4A7D4BA54B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AB5B-074D-9043-8E4A7D4BA54B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AB5B-074D-9043-8E4A7D4BA54B}"/>
              </c:ext>
            </c:extLst>
          </c:dPt>
          <c:dPt>
            <c:idx val="2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1-AB5B-074D-9043-8E4A7D4BA54B}"/>
              </c:ext>
            </c:extLst>
          </c:dPt>
          <c:dPt>
            <c:idx val="25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3-AB5B-074D-9043-8E4A7D4BA54B}"/>
              </c:ext>
            </c:extLst>
          </c:dPt>
          <c:dPt>
            <c:idx val="2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5-AB5B-074D-9043-8E4A7D4BA54B}"/>
              </c:ext>
            </c:extLst>
          </c:dPt>
          <c:dPt>
            <c:idx val="2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7-AB5B-074D-9043-8E4A7D4BA54B}"/>
              </c:ext>
            </c:extLst>
          </c:dPt>
          <c:dPt>
            <c:idx val="2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9-AB5B-074D-9043-8E4A7D4BA54B}"/>
              </c:ext>
            </c:extLst>
          </c:dPt>
          <c:dPt>
            <c:idx val="2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B-AB5B-074D-9043-8E4A7D4BA54B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Италия</c:v>
                </c:pt>
                <c:pt idx="1">
                  <c:v>Монголия</c:v>
                </c:pt>
                <c:pt idx="2">
                  <c:v>Южная Корея</c:v>
                </c:pt>
                <c:pt idx="3">
                  <c:v>Кувейт</c:v>
                </c:pt>
                <c:pt idx="4">
                  <c:v>Швеция</c:v>
                </c:pt>
                <c:pt idx="5">
                  <c:v>Гвинея</c:v>
                </c:pt>
                <c:pt idx="6">
                  <c:v>Япония</c:v>
                </c:pt>
                <c:pt idx="7">
                  <c:v>Румыния</c:v>
                </c:pt>
                <c:pt idx="8">
                  <c:v>Мексика</c:v>
                </c:pt>
                <c:pt idx="9">
                  <c:v>Норвегия</c:v>
                </c:pt>
                <c:pt idx="10">
                  <c:v>ОАЭ</c:v>
                </c:pt>
                <c:pt idx="11">
                  <c:v>Ирак</c:v>
                </c:pt>
                <c:pt idx="12">
                  <c:v>Великобритания</c:v>
                </c:pt>
                <c:pt idx="13">
                  <c:v>Казахстан</c:v>
                </c:pt>
                <c:pt idx="14">
                  <c:v>Испания</c:v>
                </c:pt>
                <c:pt idx="15">
                  <c:v>Франция</c:v>
                </c:pt>
                <c:pt idx="16">
                  <c:v>ЮАР</c:v>
                </c:pt>
                <c:pt idx="17">
                  <c:v>Турция</c:v>
                </c:pt>
                <c:pt idx="18">
                  <c:v>Польша</c:v>
                </c:pt>
                <c:pt idx="19">
                  <c:v>Иран</c:v>
                </c:pt>
                <c:pt idx="20">
                  <c:v>Канада</c:v>
                </c:pt>
                <c:pt idx="21">
                  <c:v>Саудовская Аравия</c:v>
                </c:pt>
                <c:pt idx="22">
                  <c:v>Германия</c:v>
                </c:pt>
                <c:pt idx="23">
                  <c:v>Бразилия</c:v>
                </c:pt>
                <c:pt idx="24">
                  <c:v>Индонезия</c:v>
                </c:pt>
                <c:pt idx="25">
                  <c:v>Россия</c:v>
                </c:pt>
                <c:pt idx="26">
                  <c:v>США</c:v>
                </c:pt>
                <c:pt idx="27">
                  <c:v>Австралия</c:v>
                </c:pt>
                <c:pt idx="28">
                  <c:v>Индия</c:v>
                </c:pt>
                <c:pt idx="29">
                  <c:v>Китай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102.8</c:v>
                </c:pt>
                <c:pt idx="1">
                  <c:v>108.4</c:v>
                </c:pt>
                <c:pt idx="2">
                  <c:v>114.6</c:v>
                </c:pt>
                <c:pt idx="3">
                  <c:v>131.9</c:v>
                </c:pt>
                <c:pt idx="4">
                  <c:v>132.9</c:v>
                </c:pt>
                <c:pt idx="5">
                  <c:v>142.4</c:v>
                </c:pt>
                <c:pt idx="6">
                  <c:v>155</c:v>
                </c:pt>
                <c:pt idx="7">
                  <c:v>168</c:v>
                </c:pt>
                <c:pt idx="8">
                  <c:v>182.6</c:v>
                </c:pt>
                <c:pt idx="9">
                  <c:v>188.9</c:v>
                </c:pt>
                <c:pt idx="10">
                  <c:v>192.5</c:v>
                </c:pt>
                <c:pt idx="11">
                  <c:v>220.3</c:v>
                </c:pt>
                <c:pt idx="12">
                  <c:v>231.2</c:v>
                </c:pt>
                <c:pt idx="13">
                  <c:v>267.39999999999998</c:v>
                </c:pt>
                <c:pt idx="14">
                  <c:v>276.39999999999998</c:v>
                </c:pt>
                <c:pt idx="15">
                  <c:v>331.8</c:v>
                </c:pt>
                <c:pt idx="16">
                  <c:v>359.6</c:v>
                </c:pt>
                <c:pt idx="17">
                  <c:v>375.9</c:v>
                </c:pt>
                <c:pt idx="18">
                  <c:v>408.9</c:v>
                </c:pt>
                <c:pt idx="19">
                  <c:v>425.5</c:v>
                </c:pt>
                <c:pt idx="20">
                  <c:v>425.9</c:v>
                </c:pt>
                <c:pt idx="21">
                  <c:v>552.79999999999995</c:v>
                </c:pt>
                <c:pt idx="22">
                  <c:v>602.70000000000005</c:v>
                </c:pt>
                <c:pt idx="23">
                  <c:v>761.8</c:v>
                </c:pt>
                <c:pt idx="24">
                  <c:v>909.8</c:v>
                </c:pt>
                <c:pt idx="25">
                  <c:v>1239.8</c:v>
                </c:pt>
                <c:pt idx="26">
                  <c:v>1586.7</c:v>
                </c:pt>
                <c:pt idx="27">
                  <c:v>1600</c:v>
                </c:pt>
                <c:pt idx="28">
                  <c:v>1719</c:v>
                </c:pt>
                <c:pt idx="29">
                  <c:v>8428.7999999999993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AB5B-074D-9043-8E4A7D4BA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$млрд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041-D745-BC85-D6398472BF98}"/>
              </c:ext>
            </c:extLst>
          </c:dPt>
          <c:dPt>
            <c:idx val="1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41-D745-BC85-D6398472BF98}"/>
              </c:ext>
            </c:extLst>
          </c:dPt>
          <c:dPt>
            <c:idx val="2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41-D745-BC85-D6398472BF98}"/>
              </c:ext>
            </c:extLst>
          </c:dPt>
          <c:dPt>
            <c:idx val="3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41-D745-BC85-D6398472BF98}"/>
              </c:ext>
            </c:extLst>
          </c:dPt>
          <c:dPt>
            <c:idx val="4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41-D745-BC85-D6398472BF98}"/>
              </c:ext>
            </c:extLst>
          </c:dPt>
          <c:dPt>
            <c:idx val="5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41-D745-BC85-D6398472BF98}"/>
              </c:ext>
            </c:extLst>
          </c:dPt>
          <c:dPt>
            <c:idx val="6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41-D745-BC85-D6398472BF98}"/>
              </c:ext>
            </c:extLst>
          </c:dPt>
          <c:dPt>
            <c:idx val="7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041-D745-BC85-D6398472BF98}"/>
              </c:ext>
            </c:extLst>
          </c:dPt>
          <c:dPt>
            <c:idx val="8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041-D745-BC85-D6398472BF98}"/>
              </c:ext>
            </c:extLst>
          </c:dPt>
          <c:dPt>
            <c:idx val="9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041-D745-BC85-D6398472BF98}"/>
              </c:ext>
            </c:extLst>
          </c:dPt>
          <c:dPt>
            <c:idx val="10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041-D745-BC85-D6398472BF98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Росатом Недра</c:v>
                </c:pt>
                <c:pt idx="1">
                  <c:v>PT Bukit Asam</c:v>
                </c:pt>
                <c:pt idx="2">
                  <c:v>K+S AG</c:v>
                </c:pt>
                <c:pt idx="3">
                  <c:v>Ma'aden</c:v>
                </c:pt>
                <c:pt idx="4">
                  <c:v>Agnico Eagle</c:v>
                </c:pt>
                <c:pt idx="5">
                  <c:v>Норникель</c:v>
                </c:pt>
                <c:pt idx="6">
                  <c:v>Coal India</c:v>
                </c:pt>
                <c:pt idx="7">
                  <c:v>Newmont</c:v>
                </c:pt>
                <c:pt idx="8">
                  <c:v>Vale</c:v>
                </c:pt>
                <c:pt idx="9">
                  <c:v>Zijin Mining</c:v>
                </c:pt>
                <c:pt idx="10">
                  <c:v>BHP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0.96</c:v>
                </c:pt>
                <c:pt idx="1">
                  <c:v>2.6</c:v>
                </c:pt>
                <c:pt idx="2">
                  <c:v>4</c:v>
                </c:pt>
                <c:pt idx="3">
                  <c:v>10.3</c:v>
                </c:pt>
                <c:pt idx="4">
                  <c:v>11.9</c:v>
                </c:pt>
                <c:pt idx="5">
                  <c:v>13.8</c:v>
                </c:pt>
                <c:pt idx="6">
                  <c:v>16.8</c:v>
                </c:pt>
                <c:pt idx="7">
                  <c:v>22.7</c:v>
                </c:pt>
                <c:pt idx="8">
                  <c:v>38.4</c:v>
                </c:pt>
                <c:pt idx="9">
                  <c:v>49.7</c:v>
                </c:pt>
                <c:pt idx="10">
                  <c:v>51.3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B041-D745-BC85-D6398472BF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$млрд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1B-A546-B6F4-73DEA658E458}"/>
              </c:ext>
            </c:extLst>
          </c:dPt>
          <c:dPt>
            <c:idx val="1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1B-A546-B6F4-73DEA658E458}"/>
              </c:ext>
            </c:extLst>
          </c:dPt>
          <c:dPt>
            <c:idx val="2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1B-A546-B6F4-73DEA658E458}"/>
              </c:ext>
            </c:extLst>
          </c:dPt>
          <c:dPt>
            <c:idx val="3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1B-A546-B6F4-73DEA658E458}"/>
              </c:ext>
            </c:extLst>
          </c:dPt>
          <c:dPt>
            <c:idx val="4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1B-A546-B6F4-73DEA658E458}"/>
              </c:ext>
            </c:extLst>
          </c:dPt>
          <c:dPt>
            <c:idx val="5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A1B-A546-B6F4-73DEA658E458}"/>
              </c:ext>
            </c:extLst>
          </c:dPt>
          <c:dPt>
            <c:idx val="6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A1B-A546-B6F4-73DEA658E458}"/>
              </c:ext>
            </c:extLst>
          </c:dPt>
          <c:dPt>
            <c:idx val="7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A1B-A546-B6F4-73DEA658E458}"/>
              </c:ext>
            </c:extLst>
          </c:dPt>
          <c:dPt>
            <c:idx val="8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A1B-A546-B6F4-73DEA658E458}"/>
              </c:ext>
            </c:extLst>
          </c:dPt>
          <c:dPt>
            <c:idx val="9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A1B-A546-B6F4-73DEA658E458}"/>
              </c:ext>
            </c:extLst>
          </c:dPt>
          <c:dPt>
            <c:idx val="10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A1B-A546-B6F4-73DEA658E458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Росатом Недра</c:v>
                </c:pt>
                <c:pt idx="1">
                  <c:v>PT Bukit Asam</c:v>
                </c:pt>
                <c:pt idx="2">
                  <c:v>K+S AG</c:v>
                </c:pt>
                <c:pt idx="3">
                  <c:v>Ma'aden</c:v>
                </c:pt>
                <c:pt idx="4">
                  <c:v>Норникель</c:v>
                </c:pt>
                <c:pt idx="5">
                  <c:v>Coal India</c:v>
                </c:pt>
                <c:pt idx="6">
                  <c:v>Agnico Eagle</c:v>
                </c:pt>
                <c:pt idx="7">
                  <c:v>Newmont</c:v>
                </c:pt>
                <c:pt idx="8">
                  <c:v>Zijin Mining</c:v>
                </c:pt>
                <c:pt idx="9">
                  <c:v>Vale</c:v>
                </c:pt>
                <c:pt idx="10">
                  <c:v>BHP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0.25</c:v>
                </c:pt>
                <c:pt idx="1">
                  <c:v>0.31</c:v>
                </c:pt>
                <c:pt idx="2">
                  <c:v>0.67</c:v>
                </c:pt>
                <c:pt idx="3">
                  <c:v>4.3</c:v>
                </c:pt>
                <c:pt idx="4">
                  <c:v>5.7</c:v>
                </c:pt>
                <c:pt idx="5">
                  <c:v>6.1</c:v>
                </c:pt>
                <c:pt idx="6">
                  <c:v>8.1</c:v>
                </c:pt>
                <c:pt idx="7">
                  <c:v>13.5</c:v>
                </c:pt>
                <c:pt idx="8">
                  <c:v>14.3</c:v>
                </c:pt>
                <c:pt idx="9">
                  <c:v>15.5</c:v>
                </c:pt>
                <c:pt idx="10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EA1B-A546-B6F4-73DEA658E4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$млрд</c:v>
                </c:pt>
              </c:strCache>
            </c:strRef>
          </c:tx>
          <c:spPr>
            <a:solidFill>
              <a:srgbClr val="1A6D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CB-C84B-B961-389746AFF59F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FCB-C84B-B961-389746AFF59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FCB-C84B-B961-389746AFF59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FCB-C84B-B961-389746AFF59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FCB-C84B-B961-389746AFF59F}"/>
              </c:ext>
            </c:extLst>
          </c:dPt>
          <c:dPt>
            <c:idx val="5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FCB-C84B-B961-389746AFF59F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9FCB-C84B-B961-389746AFF59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FCB-C84B-B961-389746AFF59F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9FCB-C84B-B961-389746AFF59F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9FCB-C84B-B961-389746AFF59F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9FCB-C84B-B961-389746AFF59F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PT Bukit Asam</c:v>
                </c:pt>
                <c:pt idx="1">
                  <c:v>Росатом Недра</c:v>
                </c:pt>
                <c:pt idx="2">
                  <c:v>K+S AG</c:v>
                </c:pt>
                <c:pt idx="3">
                  <c:v>Ma'aden</c:v>
                </c:pt>
                <c:pt idx="4">
                  <c:v>Agnico Eagle</c:v>
                </c:pt>
                <c:pt idx="5">
                  <c:v>Норникель</c:v>
                </c:pt>
                <c:pt idx="6">
                  <c:v>Coal India</c:v>
                </c:pt>
                <c:pt idx="7">
                  <c:v>Newmont</c:v>
                </c:pt>
                <c:pt idx="8">
                  <c:v>Vale</c:v>
                </c:pt>
                <c:pt idx="9">
                  <c:v>Zijin Mining</c:v>
                </c:pt>
                <c:pt idx="10">
                  <c:v>BHP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</c:v>
                </c:pt>
                <c:pt idx="1">
                  <c:v>0.33</c:v>
                </c:pt>
                <c:pt idx="2">
                  <c:v>0.6</c:v>
                </c:pt>
                <c:pt idx="3">
                  <c:v>1.8</c:v>
                </c:pt>
                <c:pt idx="4">
                  <c:v>2.1</c:v>
                </c:pt>
                <c:pt idx="5">
                  <c:v>2.6</c:v>
                </c:pt>
                <c:pt idx="6">
                  <c:v>2.6</c:v>
                </c:pt>
                <c:pt idx="7">
                  <c:v>3</c:v>
                </c:pt>
                <c:pt idx="8">
                  <c:v>5.5</c:v>
                </c:pt>
                <c:pt idx="9">
                  <c:v>6</c:v>
                </c:pt>
                <c:pt idx="10">
                  <c:v>9.8000000000000007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9FCB-C84B-B961-389746AFF5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6DE-9948-BAB0-40A3962C020F}"/>
              </c:ext>
            </c:extLst>
          </c:dPt>
          <c:dPt>
            <c:idx val="1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6DE-9948-BAB0-40A3962C020F}"/>
              </c:ext>
            </c:extLst>
          </c:dPt>
          <c:dPt>
            <c:idx val="2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6DE-9948-BAB0-40A3962C020F}"/>
              </c:ext>
            </c:extLst>
          </c:dPt>
          <c:dPt>
            <c:idx val="3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6DE-9948-BAB0-40A3962C020F}"/>
              </c:ext>
            </c:extLst>
          </c:dPt>
          <c:dPt>
            <c:idx val="4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6DE-9948-BAB0-40A3962C020F}"/>
              </c:ext>
            </c:extLst>
          </c:dPt>
          <c:dPt>
            <c:idx val="5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6DE-9948-BAB0-40A3962C020F}"/>
              </c:ext>
            </c:extLst>
          </c:dPt>
          <c:dPt>
            <c:idx val="6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6DE-9948-BAB0-40A3962C020F}"/>
              </c:ext>
            </c:extLst>
          </c:dPt>
          <c:dPt>
            <c:idx val="7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6DE-9948-BAB0-40A3962C020F}"/>
              </c:ext>
            </c:extLst>
          </c:dPt>
          <c:dPt>
            <c:idx val="8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6DE-9948-BAB0-40A3962C020F}"/>
              </c:ext>
            </c:extLst>
          </c:dPt>
          <c:dPt>
            <c:idx val="9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6DE-9948-BAB0-40A3962C020F}"/>
              </c:ext>
            </c:extLst>
          </c:dPt>
          <c:dPt>
            <c:idx val="10"/>
            <c:invertIfNegative val="0"/>
            <c:bubble3D val="0"/>
            <c:spPr>
              <a:solidFill>
                <a:srgbClr val="1A6D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6DE-9948-BAB0-40A3962C020F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Росатом Недра</c:v>
                </c:pt>
                <c:pt idx="1">
                  <c:v>K+S AG</c:v>
                </c:pt>
                <c:pt idx="2">
                  <c:v>PT Bukit Asam</c:v>
                </c:pt>
                <c:pt idx="3">
                  <c:v>Норникель</c:v>
                </c:pt>
                <c:pt idx="4">
                  <c:v>Coal India</c:v>
                </c:pt>
                <c:pt idx="5">
                  <c:v>Zijin Mining</c:v>
                </c:pt>
                <c:pt idx="6">
                  <c:v>Ma'aden</c:v>
                </c:pt>
                <c:pt idx="7">
                  <c:v>BHP</c:v>
                </c:pt>
                <c:pt idx="8">
                  <c:v>Vale</c:v>
                </c:pt>
                <c:pt idx="9">
                  <c:v>Agnico Eagle</c:v>
                </c:pt>
                <c:pt idx="10">
                  <c:v>Newmont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75.8</c:v>
                </c:pt>
                <c:pt idx="1">
                  <c:v>111.7</c:v>
                </c:pt>
                <c:pt idx="2">
                  <c:v>155</c:v>
                </c:pt>
                <c:pt idx="3">
                  <c:v>219.2</c:v>
                </c:pt>
                <c:pt idx="4">
                  <c:v>234.6</c:v>
                </c:pt>
                <c:pt idx="5">
                  <c:v>238.3</c:v>
                </c:pt>
                <c:pt idx="6">
                  <c:v>238.9</c:v>
                </c:pt>
                <c:pt idx="7">
                  <c:v>265.3</c:v>
                </c:pt>
                <c:pt idx="8">
                  <c:v>281.8</c:v>
                </c:pt>
                <c:pt idx="9">
                  <c:v>385.7</c:v>
                </c:pt>
                <c:pt idx="10">
                  <c:v>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6DE-9948-BAB0-40A3962C02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1A6D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A1-1242-B212-B4B2B62B0A4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A1-1242-B212-B4B2B62B0A4D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A1-1242-B212-B4B2B62B0A4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8A1-1242-B212-B4B2B62B0A4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8A1-1242-B212-B4B2B62B0A4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8A1-1242-B212-B4B2B62B0A4D}"/>
              </c:ext>
            </c:extLst>
          </c:dPt>
          <c:dPt>
            <c:idx val="6"/>
            <c:invertIfNegative val="0"/>
            <c:bubble3D val="0"/>
            <c:spPr>
              <a:solidFill>
                <a:srgbClr val="E870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8A1-1242-B212-B4B2B62B0A4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88A1-1242-B212-B4B2B62B0A4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88A1-1242-B212-B4B2B62B0A4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8A1-1242-B212-B4B2B62B0A4D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88A1-1242-B212-B4B2B62B0A4D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PT Bukit Asam</c:v>
                </c:pt>
                <c:pt idx="1">
                  <c:v>K+S AG</c:v>
                </c:pt>
                <c:pt idx="2">
                  <c:v>Росатом Недра</c:v>
                </c:pt>
                <c:pt idx="3">
                  <c:v>Zijin Mining</c:v>
                </c:pt>
                <c:pt idx="4">
                  <c:v>Coal India</c:v>
                </c:pt>
                <c:pt idx="5">
                  <c:v>Vale</c:v>
                </c:pt>
                <c:pt idx="6">
                  <c:v>Норникель</c:v>
                </c:pt>
                <c:pt idx="7">
                  <c:v>Ma'aden</c:v>
                </c:pt>
                <c:pt idx="8">
                  <c:v>BHP</c:v>
                </c:pt>
                <c:pt idx="9">
                  <c:v>Newmont</c:v>
                </c:pt>
                <c:pt idx="10">
                  <c:v>Agnico Eagle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11.9</c:v>
                </c:pt>
                <c:pt idx="1">
                  <c:v>16.8</c:v>
                </c:pt>
                <c:pt idx="2">
                  <c:v>26</c:v>
                </c:pt>
                <c:pt idx="3">
                  <c:v>28.8</c:v>
                </c:pt>
                <c:pt idx="4">
                  <c:v>36.299999999999997</c:v>
                </c:pt>
                <c:pt idx="5">
                  <c:v>40.4</c:v>
                </c:pt>
                <c:pt idx="6">
                  <c:v>41.3</c:v>
                </c:pt>
                <c:pt idx="7">
                  <c:v>41.7</c:v>
                </c:pt>
                <c:pt idx="8">
                  <c:v>50.7</c:v>
                </c:pt>
                <c:pt idx="9">
                  <c:v>59.5</c:v>
                </c:pt>
                <c:pt idx="10">
                  <c:v>68.099999999999994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88A1-1242-B212-B4B2B62B0A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8B38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8F-294A-8DA1-E8E3EE630B2A}"/>
              </c:ext>
            </c:extLst>
          </c:dPt>
          <c:dPt>
            <c:idx val="1"/>
            <c:invertIfNegative val="0"/>
            <c:bubble3D val="0"/>
            <c:spPr>
              <a:solidFill>
                <a:srgbClr val="4E68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8F-294A-8DA1-E8E3EE630B2A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8F-294A-8DA1-E8E3EE630B2A}"/>
              </c:ext>
            </c:extLst>
          </c:dPt>
          <c:dLbls>
            <c:numFmt formatCode="#,##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Снизить</c:v>
                </c:pt>
                <c:pt idx="1">
                  <c:v>Сохранить</c:v>
                </c:pt>
                <c:pt idx="2">
                  <c:v>Увеличить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49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F8F-294A-8DA1-E8E3EE630B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E68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от выручки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59-744A-A053-4A0264DEF21C}"/>
              </c:ext>
            </c:extLst>
          </c:dPt>
          <c:dPt>
            <c:idx val="1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59-744A-A053-4A0264DEF21C}"/>
              </c:ext>
            </c:extLst>
          </c:dPt>
          <c:dPt>
            <c:idx val="2"/>
            <c:invertIfNegative val="0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59-744A-A053-4A0264DEF21C}"/>
              </c:ext>
            </c:extLst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59-744A-A053-4A0264DEF21C}"/>
              </c:ext>
            </c:extLst>
          </c:dPt>
          <c:dPt>
            <c:idx val="4"/>
            <c:invertIfNegative val="0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59-744A-A053-4A0264DEF21C}"/>
              </c:ext>
            </c:extLst>
          </c:dPt>
          <c:dPt>
            <c:idx val="5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59-744A-A053-4A0264DEF21C}"/>
              </c:ext>
            </c:extLst>
          </c:dPt>
          <c:dPt>
            <c:idx val="6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959-744A-A053-4A0264DEF21C}"/>
              </c:ext>
            </c:extLst>
          </c:dPt>
          <c:dPt>
            <c:idx val="7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59-744A-A053-4A0264DEF21C}"/>
              </c:ext>
            </c:extLst>
          </c:dPt>
          <c:dPt>
            <c:idx val="8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959-744A-A053-4A0264DEF21C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959-744A-A053-4A0264DEF21C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Росатом Недра</c:v>
                </c:pt>
                <c:pt idx="1">
                  <c:v>PT Bayan Resources</c:v>
                </c:pt>
                <c:pt idx="2">
                  <c:v>Zijin Mining</c:v>
                </c:pt>
                <c:pt idx="3">
                  <c:v>BHP</c:v>
                </c:pt>
                <c:pt idx="4">
                  <c:v>Coal India</c:v>
                </c:pt>
                <c:pt idx="5">
                  <c:v>Ma'aden</c:v>
                </c:pt>
                <c:pt idx="6">
                  <c:v>K+S AG</c:v>
                </c:pt>
                <c:pt idx="7">
                  <c:v>Newmont</c:v>
                </c:pt>
                <c:pt idx="8">
                  <c:v>Agnico Eagle</c:v>
                </c:pt>
                <c:pt idx="9">
                  <c:v>Vale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0.5</c:v>
                </c:pt>
                <c:pt idx="3">
                  <c:v>0.7</c:v>
                </c:pt>
                <c:pt idx="4">
                  <c:v>1</c:v>
                </c:pt>
                <c:pt idx="5">
                  <c:v>1.2</c:v>
                </c:pt>
                <c:pt idx="6">
                  <c:v>1.5</c:v>
                </c:pt>
                <c:pt idx="7">
                  <c:v>1.6</c:v>
                </c:pt>
                <c:pt idx="8">
                  <c:v>8.5</c:v>
                </c:pt>
                <c:pt idx="9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959-744A-A053-4A0264DEF2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Уран (U₃O₈)</c:v>
                </c:pt>
              </c:strCache>
            </c:strRef>
          </c:tx>
          <c:spPr>
            <a:ln w="25400" cap="flat">
              <a:solidFill>
                <a:srgbClr val="1A6D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DD4"/>
              </a:solidFill>
              <a:ln w="9525" cap="flat">
                <a:solidFill>
                  <a:srgbClr val="1A6DD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70.5</c:v>
                </c:pt>
                <c:pt idx="2">
                  <c:v>59.4</c:v>
                </c:pt>
                <c:pt idx="3">
                  <c:v>67.2</c:v>
                </c:pt>
                <c:pt idx="4">
                  <c:v>71</c:v>
                </c:pt>
                <c:pt idx="5">
                  <c:v>80.599999999999994</c:v>
                </c:pt>
                <c:pt idx="6">
                  <c:v>90</c:v>
                </c:pt>
                <c:pt idx="7">
                  <c:v>111.6</c:v>
                </c:pt>
                <c:pt idx="8">
                  <c:v>134.19999999999999</c:v>
                </c:pt>
                <c:pt idx="9">
                  <c:v>190.9</c:v>
                </c:pt>
                <c:pt idx="10">
                  <c:v>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0A-6B4B-AA32-75D255833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Золото</c:v>
                </c:pt>
              </c:strCache>
            </c:strRef>
          </c:tx>
          <c:spPr>
            <a:ln w="25400" cap="flat">
              <a:solidFill>
                <a:srgbClr val="B886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860B"/>
              </a:solidFill>
              <a:ln w="9525" cap="flat">
                <a:solidFill>
                  <a:srgbClr val="B8860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107.8</c:v>
                </c:pt>
                <c:pt idx="2">
                  <c:v>108.4</c:v>
                </c:pt>
                <c:pt idx="3">
                  <c:v>109.3</c:v>
                </c:pt>
                <c:pt idx="4">
                  <c:v>120.2</c:v>
                </c:pt>
                <c:pt idx="5">
                  <c:v>152.69999999999999</c:v>
                </c:pt>
                <c:pt idx="6">
                  <c:v>155</c:v>
                </c:pt>
                <c:pt idx="7">
                  <c:v>155.19999999999999</c:v>
                </c:pt>
                <c:pt idx="8">
                  <c:v>167.3</c:v>
                </c:pt>
                <c:pt idx="9">
                  <c:v>205.7</c:v>
                </c:pt>
                <c:pt idx="10">
                  <c:v>295.8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0A-6B4B-AA32-75D255833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Среднее</c:v>
                </c:pt>
              </c:strCache>
            </c:strRef>
          </c:tx>
          <c:spPr>
            <a:ln w="25400" cap="flat">
              <a:solidFill>
                <a:srgbClr val="E8702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89.2</c:v>
                </c:pt>
                <c:pt idx="2">
                  <c:v>83.9</c:v>
                </c:pt>
                <c:pt idx="3">
                  <c:v>88.3</c:v>
                </c:pt>
                <c:pt idx="4">
                  <c:v>95.6</c:v>
                </c:pt>
                <c:pt idx="5">
                  <c:v>116.6</c:v>
                </c:pt>
                <c:pt idx="6">
                  <c:v>122.5</c:v>
                </c:pt>
                <c:pt idx="7">
                  <c:v>133.4</c:v>
                </c:pt>
                <c:pt idx="8">
                  <c:v>150.80000000000001</c:v>
                </c:pt>
                <c:pt idx="9">
                  <c:v>198.3</c:v>
                </c:pt>
                <c:pt idx="10">
                  <c:v>228.4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0A-6B4B-AA32-75D255833D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E68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Сводный индекс цен</c:v>
                </c:pt>
              </c:strCache>
            </c:strRef>
          </c:tx>
          <c:spPr>
            <a:ln w="25400" cap="flat">
              <a:solidFill>
                <a:srgbClr val="4E68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6880"/>
              </a:solidFill>
              <a:ln w="9525" cap="flat">
                <a:solidFill>
                  <a:srgbClr val="4E688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89.2</c:v>
                </c:pt>
                <c:pt idx="2">
                  <c:v>83.9</c:v>
                </c:pt>
                <c:pt idx="3">
                  <c:v>88.3</c:v>
                </c:pt>
                <c:pt idx="4">
                  <c:v>95.6</c:v>
                </c:pt>
                <c:pt idx="5">
                  <c:v>116.6</c:v>
                </c:pt>
                <c:pt idx="6">
                  <c:v>122.5</c:v>
                </c:pt>
                <c:pt idx="7">
                  <c:v>133.4</c:v>
                </c:pt>
                <c:pt idx="8">
                  <c:v>150.80000000000001</c:v>
                </c:pt>
                <c:pt idx="9">
                  <c:v>198.3</c:v>
                </c:pt>
                <c:pt idx="10">
                  <c:v>228.4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FF-4349-8DD0-4A94554896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Выручка АО «Росатом Недра» (2015=100)</c:v>
                </c:pt>
              </c:strCache>
            </c:strRef>
          </c:tx>
          <c:spPr>
            <a:ln w="2540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103.9</c:v>
                </c:pt>
                <c:pt idx="2">
                  <c:v>83.2</c:v>
                </c:pt>
                <c:pt idx="3">
                  <c:v>86.6</c:v>
                </c:pt>
                <c:pt idx="4">
                  <c:v>88.1</c:v>
                </c:pt>
                <c:pt idx="5">
                  <c:v>95.4</c:v>
                </c:pt>
                <c:pt idx="6">
                  <c:v>108.9</c:v>
                </c:pt>
                <c:pt idx="7">
                  <c:v>115.8</c:v>
                </c:pt>
                <c:pt idx="8">
                  <c:v>162.69999999999999</c:v>
                </c:pt>
                <c:pt idx="9">
                  <c:v>276.60000000000002</c:v>
                </c:pt>
                <c:pt idx="10">
                  <c:v>375.7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FF-4349-8DD0-4A94554896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80" b="0" i="0" u="none" strike="noStrike">
                <a:solidFill>
                  <a:srgbClr val="8AAFD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0D23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E688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90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25725-5C38-18A0-509C-E1320776C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3581A-C7D6-C2DF-22D0-960C71490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C7BA9-CCE6-2187-85A0-E4F689C89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5C2B-6502-34BA-B970-B44A48F47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87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EB32-A828-818E-2AA2-A372B862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F832D-EB33-B638-AFF2-366E86CE3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D1AFC-BA0B-4091-808A-67E2C34A5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47FC0-309E-E899-36F8-0D1193B5A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92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0"/>
            <a:ext cx="11887200" cy="11887200"/>
          </a:xfrm>
          <a:prstGeom prst="ellipse">
            <a:avLst/>
          </a:prstGeom>
          <a:solidFill>
            <a:srgbClr val="020812"/>
          </a:solidFill>
          <a:ln w="12700">
            <a:solidFill>
              <a:srgbClr val="0208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737360"/>
            <a:ext cx="9875520" cy="98755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548640"/>
            <a:ext cx="7498080" cy="7498080"/>
          </a:xfrm>
          <a:prstGeom prst="ellipse">
            <a:avLst/>
          </a:prstGeom>
          <a:solidFill>
            <a:srgbClr val="020812"/>
          </a:solidFill>
          <a:ln w="12700">
            <a:solidFill>
              <a:srgbClr val="0208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640080"/>
            <a:ext cx="5120640" cy="512064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74320"/>
            <a:ext cx="5760720" cy="5760720"/>
          </a:xfrm>
          <a:prstGeom prst="ellipse">
            <a:avLst/>
          </a:prstGeom>
          <a:solidFill>
            <a:srgbClr val="000818"/>
          </a:solidFill>
          <a:ln w="25400">
            <a:solidFill>
              <a:srgbClr val="E870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5212080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5852160"/>
            <a:ext cx="256032" cy="256032"/>
          </a:xfrm>
          <a:prstGeom prst="ellipse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5687568"/>
            <a:ext cx="4572000" cy="1170432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" y="960120"/>
            <a:ext cx="9144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 и АО «Росатом Недра»</a:t>
            </a:r>
            <a:endParaRPr lang="en-US" sz="4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 контексте мировой</a:t>
            </a:r>
            <a:endParaRPr lang="en-US" sz="4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горнодобывающей отрасли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4434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Анализ производства · Финансы · Технологии · Прогноз</a:t>
            </a:r>
            <a:endParaRPr lang="en-US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5029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г.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" y="5797296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BGS · PwC Mine 2026 · Годовые отчёты компаний</a:t>
            </a:r>
            <a:endParaRPr lang="en-US" sz="1200" dirty="0">
              <a:latin typeface="+mj-lt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Отчётность АО «Росатом Недра»</a:t>
            </a:r>
            <a:endParaRPr lang="en-US" sz="12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11521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Содержание</a:t>
            </a:r>
            <a:endParaRPr lang="en-US" sz="3200" dirty="0">
              <a:latin typeface="Century" panose="020406040505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1430000" cy="0"/>
          </a:xfrm>
          <a:prstGeom prst="line">
            <a:avLst/>
          </a:prstGeom>
          <a:noFill/>
          <a:ln w="10160">
            <a:solidFill>
              <a:srgbClr val="0D23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07008"/>
            <a:ext cx="475488" cy="47548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1143000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 на карте мировой добычи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Топ-30 стран · Топ-10 по 7 видам сырья · Тепловая карта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1892808"/>
            <a:ext cx="11430000" cy="0"/>
          </a:xfrm>
          <a:prstGeom prst="line">
            <a:avLst/>
          </a:prstGeom>
          <a:noFill/>
          <a:ln w="6350">
            <a:solidFill>
              <a:srgbClr val="0D23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121408"/>
            <a:ext cx="475488" cy="47548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031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>
              <a:latin typeface="Century" panose="020406040505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78992" y="2057400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Финансовые показатели ведущих компаний (2025 г.)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" y="2395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Выручка · EBITDA · CAPEX · EBITDA/CAPEX · Маржинальность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807208"/>
            <a:ext cx="11430000" cy="0"/>
          </a:xfrm>
          <a:prstGeom prst="line">
            <a:avLst/>
          </a:prstGeom>
          <a:noFill/>
          <a:ln w="635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35808"/>
            <a:ext cx="475488" cy="47548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175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>
              <a:latin typeface="Century" panose="020406040505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78992" y="2971800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Инвестиции в технологии и цифровизацию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8992" y="33101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Состояние в России · Сравнение с мировыми лидерами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721608"/>
            <a:ext cx="11430000" cy="0"/>
          </a:xfrm>
          <a:prstGeom prst="line">
            <a:avLst/>
          </a:prstGeom>
          <a:noFill/>
          <a:ln w="635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950208"/>
            <a:ext cx="475488" cy="47548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319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>
              <a:latin typeface="Century" panose="020406040505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78992" y="3886200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Динамика мировых цен на сырьё (2015</a:t>
            </a:r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2025 гг.)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" y="42245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Уран · Золото · Сводный индекс · Выручка Росатом Недра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11480" y="4636008"/>
            <a:ext cx="11430000" cy="0"/>
          </a:xfrm>
          <a:prstGeom prst="line">
            <a:avLst/>
          </a:prstGeom>
          <a:noFill/>
          <a:ln w="6350">
            <a:solidFill>
              <a:srgbClr val="0D23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864608"/>
            <a:ext cx="475488" cy="47548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8463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>
              <a:latin typeface="Century" panose="020406040505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8992" y="4800600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 выручки: </a:t>
            </a:r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зависимость от инвестиций в </a:t>
            </a: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78992" y="5138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Модель CAGR · Анимационный </a:t>
            </a:r>
            <a:r>
              <a:rPr lang="en-US" sz="1200" dirty="0" err="1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</a:t>
            </a: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2025</a:t>
            </a:r>
            <a:r>
              <a:rPr lang="ru-RU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2035 гг.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 на карте</a:t>
            </a:r>
            <a:endParaRPr lang="en-US" sz="46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мировой добычи</a:t>
            </a:r>
            <a:endParaRPr lang="en-US" sz="46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BGS World Mineral Production 2024 · </a:t>
            </a:r>
            <a:r>
              <a:rPr lang="en-US" dirty="0" err="1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Топ</a:t>
            </a:r>
            <a:r>
              <a:rPr lang="ru-RU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-</a:t>
            </a: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30 стран · 7 видов стратегического сырья · Тепловая карта</a:t>
            </a: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65761"/>
            <a:ext cx="2971800" cy="649224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3" y="365761"/>
            <a:ext cx="91441" cy="7498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  ·  1.1  ТОП-30 СТРАН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5-е</a:t>
            </a:r>
            <a:endParaRPr lang="en-US" sz="5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 в мировом</a:t>
            </a:r>
            <a:endParaRPr lang="en-US" sz="1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рейтинге добычи</a:t>
            </a:r>
            <a:endParaRPr lang="en-US" sz="1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полезных ископаемых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Объём добычи (2024 г.)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288536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1 239,8</a:t>
            </a:r>
            <a:endParaRPr lang="en-US" sz="4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млн т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1453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 6,8× меньше</a:t>
            </a:r>
            <a:endParaRPr lang="en-US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лидера</a:t>
            </a: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Китая</a:t>
            </a:r>
            <a:endParaRPr lang="en-US" sz="12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(8 428,8 млн т)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Топ-30 стран по объёму добычи полезных ископаемых (2024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ea typeface="Arial" pitchFamily="34" charset="-122"/>
                <a:cs typeface="Arial" pitchFamily="34" charset="-120"/>
              </a:rPr>
              <a:t>Совокупный объём в единицах массы · млн тонн · 173 страны в базе данных BGS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British Geological Survey (BGS), World Mineral Production 2024.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46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  ·  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38912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Топ</a:t>
            </a:r>
            <a:r>
              <a:rPr lang="ru-RU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10 стран по добыче стратегических видов сырья (2024 </a:t>
            </a:r>
            <a:r>
              <a:rPr lang="en-US" sz="23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.)</a:t>
            </a:r>
            <a:endParaRPr lang="ru-RU" sz="2300" b="1" dirty="0">
              <a:solidFill>
                <a:srgbClr val="FFFFFF"/>
              </a:solidFill>
              <a:latin typeface="Century" panose="02040604050505020304" pitchFamily="18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23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Уголь</a:t>
            </a: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· Железо · Медь</a:t>
            </a:r>
            <a:endParaRPr lang="en-US" sz="2300" dirty="0">
              <a:latin typeface="Century" panose="020406040505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8C1A5B-5E4F-1ECC-6E71-D1822F417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85" y="1469407"/>
            <a:ext cx="11402349" cy="5278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46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  ·  1.2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38912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Топ-10 стран по добыче стратегических видов сырья (2024 г.) </a:t>
            </a:r>
            <a:endParaRPr lang="ru-RU" sz="2300" b="1" dirty="0">
              <a:solidFill>
                <a:srgbClr val="FFFFFF"/>
              </a:solidFill>
              <a:latin typeface="Century" panose="02040604050505020304" pitchFamily="18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23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Золото</a:t>
            </a: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· Никель · Уран · РЗМ</a:t>
            </a:r>
            <a:endParaRPr lang="en-US" sz="2300" dirty="0">
              <a:latin typeface="Century" panose="020406040505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979A7D-06DC-A842-0454-66BBA3370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62" y="1249629"/>
            <a:ext cx="11634050" cy="5409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46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  ·  1.3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38912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Доля топ-10 стран в мировой добыче по видам сырья (2024 г.)</a:t>
            </a:r>
            <a:endParaRPr lang="en-US" sz="2300" dirty="0">
              <a:latin typeface="Century" panose="020406040505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E6E64D-D58A-E827-4676-5B299BBD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11" y="1400861"/>
            <a:ext cx="11600961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8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01  ·  ИТОГ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20624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Позиции России в мировой добыче по 7 видам стратегического сырья</a:t>
            </a:r>
            <a:endParaRPr lang="en-US" sz="2200" dirty="0">
              <a:latin typeface="Century" panose="020406040505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43416" y="1115568"/>
            <a:ext cx="2743200" cy="2304288"/>
          </a:xfrm>
          <a:prstGeom prst="rect">
            <a:avLst/>
          </a:prstGeom>
          <a:solidFill>
            <a:srgbClr val="010E20"/>
          </a:solidFill>
          <a:ln w="12700">
            <a:solidFill>
              <a:srgbClr val="010E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6455664"/>
            <a:ext cx="128016" cy="12801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6400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Топ</a:t>
            </a:r>
            <a:r>
              <a:rPr lang="ru-RU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-1</a:t>
            </a: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-3 в мире</a:t>
            </a:r>
            <a:endParaRPr lang="en-US" sz="1400" dirty="0">
              <a:latin typeface="+mj-lt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907792" y="6455664"/>
            <a:ext cx="128016" cy="12801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0672" y="6400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Топ-5 в мире</a:t>
            </a:r>
            <a:endParaRPr lang="en-US" sz="1400" dirty="0">
              <a:latin typeface="+mj-lt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68112" y="6455664"/>
            <a:ext cx="128016" cy="128016"/>
          </a:xfrm>
          <a:prstGeom prst="ellipse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6400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Топ-6–10</a:t>
            </a:r>
            <a:endParaRPr lang="en-US" sz="1600" dirty="0">
              <a:latin typeface="+mj-lt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22960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 · World Mineral Production 2024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136" name="Shape 5">
            <a:extLst>
              <a:ext uri="{FF2B5EF4-FFF2-40B4-BE49-F238E27FC236}">
                <a16:creationId xmlns:a16="http://schemas.microsoft.com/office/drawing/2014/main" id="{2E07E404-2AA3-F015-16CB-F0703D934643}"/>
              </a:ext>
            </a:extLst>
          </p:cNvPr>
          <p:cNvSpPr/>
          <p:nvPr/>
        </p:nvSpPr>
        <p:spPr>
          <a:xfrm>
            <a:off x="347472" y="1115568"/>
            <a:ext cx="2743200" cy="2304288"/>
          </a:xfrm>
          <a:prstGeom prst="rect">
            <a:avLst/>
          </a:prstGeom>
          <a:solidFill>
            <a:srgbClr val="010E20"/>
          </a:solidFill>
          <a:ln w="12700">
            <a:solidFill>
              <a:srgbClr val="010E20"/>
            </a:solidFill>
            <a:prstDash val="solid"/>
          </a:ln>
        </p:spPr>
      </p:sp>
      <p:sp>
        <p:nvSpPr>
          <p:cNvPr id="137" name="Shape 6">
            <a:extLst>
              <a:ext uri="{FF2B5EF4-FFF2-40B4-BE49-F238E27FC236}">
                <a16:creationId xmlns:a16="http://schemas.microsoft.com/office/drawing/2014/main" id="{B33B348E-6FDD-96D9-E1CD-E8FC614CDBB8}"/>
              </a:ext>
            </a:extLst>
          </p:cNvPr>
          <p:cNvSpPr/>
          <p:nvPr/>
        </p:nvSpPr>
        <p:spPr>
          <a:xfrm>
            <a:off x="347472" y="1115568"/>
            <a:ext cx="274320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138" name="Text 7">
            <a:extLst>
              <a:ext uri="{FF2B5EF4-FFF2-40B4-BE49-F238E27FC236}">
                <a16:creationId xmlns:a16="http://schemas.microsoft.com/office/drawing/2014/main" id="{1A6538E8-2317-9195-A70A-4AC5A63114DB}"/>
              </a:ext>
            </a:extLst>
          </p:cNvPr>
          <p:cNvSpPr/>
          <p:nvPr/>
        </p:nvSpPr>
        <p:spPr>
          <a:xfrm>
            <a:off x="475488" y="12070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Уголь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39" name="Text 8">
            <a:extLst>
              <a:ext uri="{FF2B5EF4-FFF2-40B4-BE49-F238E27FC236}">
                <a16:creationId xmlns:a16="http://schemas.microsoft.com/office/drawing/2014/main" id="{0B40D9B9-85F6-AB9D-8756-39CB847D4169}"/>
              </a:ext>
            </a:extLst>
          </p:cNvPr>
          <p:cNvSpPr/>
          <p:nvPr/>
        </p:nvSpPr>
        <p:spPr>
          <a:xfrm>
            <a:off x="475488" y="159105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6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6-е место</a:t>
            </a:r>
            <a:endParaRPr lang="en-US" sz="3400" dirty="0"/>
          </a:p>
        </p:txBody>
      </p:sp>
      <p:sp>
        <p:nvSpPr>
          <p:cNvPr id="140" name="Text 9">
            <a:extLst>
              <a:ext uri="{FF2B5EF4-FFF2-40B4-BE49-F238E27FC236}">
                <a16:creationId xmlns:a16="http://schemas.microsoft.com/office/drawing/2014/main" id="{F81B0427-9F8A-672D-8208-A92E822A4ADB}"/>
              </a:ext>
            </a:extLst>
          </p:cNvPr>
          <p:cNvSpPr/>
          <p:nvPr/>
        </p:nvSpPr>
        <p:spPr>
          <a:xfrm>
            <a:off x="475488" y="23042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427,2 млн т</a:t>
            </a:r>
            <a:endParaRPr lang="en-US" sz="1600" dirty="0">
              <a:latin typeface="+mj-lt"/>
            </a:endParaRPr>
          </a:p>
        </p:txBody>
      </p:sp>
      <p:sp>
        <p:nvSpPr>
          <p:cNvPr id="141" name="Text 10">
            <a:extLst>
              <a:ext uri="{FF2B5EF4-FFF2-40B4-BE49-F238E27FC236}">
                <a16:creationId xmlns:a16="http://schemas.microsoft.com/office/drawing/2014/main" id="{AA9E9905-D6C3-C670-C25D-21FF809615A6}"/>
              </a:ext>
            </a:extLst>
          </p:cNvPr>
          <p:cNvSpPr/>
          <p:nvPr/>
        </p:nvSpPr>
        <p:spPr>
          <a:xfrm>
            <a:off x="475488" y="268833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Китай · 4 759 млн т</a:t>
            </a:r>
            <a:endParaRPr lang="en-US" sz="1600" dirty="0">
              <a:latin typeface="+mj-lt"/>
            </a:endParaRPr>
          </a:p>
        </p:txBody>
      </p:sp>
      <p:sp>
        <p:nvSpPr>
          <p:cNvPr id="142" name="Shape 11">
            <a:extLst>
              <a:ext uri="{FF2B5EF4-FFF2-40B4-BE49-F238E27FC236}">
                <a16:creationId xmlns:a16="http://schemas.microsoft.com/office/drawing/2014/main" id="{546C9706-3012-40C7-63D8-2F43798FA491}"/>
              </a:ext>
            </a:extLst>
          </p:cNvPr>
          <p:cNvSpPr/>
          <p:nvPr/>
        </p:nvSpPr>
        <p:spPr>
          <a:xfrm>
            <a:off x="3246120" y="1115568"/>
            <a:ext cx="2743200" cy="2304288"/>
          </a:xfrm>
          <a:prstGeom prst="rect">
            <a:avLst/>
          </a:prstGeom>
          <a:solidFill>
            <a:srgbClr val="010E20"/>
          </a:solidFill>
          <a:ln w="12700">
            <a:solidFill>
              <a:srgbClr val="010E20"/>
            </a:solidFill>
            <a:prstDash val="solid"/>
          </a:ln>
        </p:spPr>
      </p:sp>
      <p:sp>
        <p:nvSpPr>
          <p:cNvPr id="143" name="Shape 12">
            <a:extLst>
              <a:ext uri="{FF2B5EF4-FFF2-40B4-BE49-F238E27FC236}">
                <a16:creationId xmlns:a16="http://schemas.microsoft.com/office/drawing/2014/main" id="{80D9A5A9-E257-5753-8908-3EDFCA82BE84}"/>
              </a:ext>
            </a:extLst>
          </p:cNvPr>
          <p:cNvSpPr/>
          <p:nvPr/>
        </p:nvSpPr>
        <p:spPr>
          <a:xfrm>
            <a:off x="3246120" y="1115568"/>
            <a:ext cx="274320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4" name="Text 13">
            <a:extLst>
              <a:ext uri="{FF2B5EF4-FFF2-40B4-BE49-F238E27FC236}">
                <a16:creationId xmlns:a16="http://schemas.microsoft.com/office/drawing/2014/main" id="{3F78BC14-1ABB-FB66-31F8-8F9FC756BDCE}"/>
              </a:ext>
            </a:extLst>
          </p:cNvPr>
          <p:cNvSpPr/>
          <p:nvPr/>
        </p:nvSpPr>
        <p:spPr>
          <a:xfrm>
            <a:off x="3374136" y="12070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Железо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45" name="Text 14">
            <a:extLst>
              <a:ext uri="{FF2B5EF4-FFF2-40B4-BE49-F238E27FC236}">
                <a16:creationId xmlns:a16="http://schemas.microsoft.com/office/drawing/2014/main" id="{D7C2F471-4278-162D-476D-B8CA288801A3}"/>
              </a:ext>
            </a:extLst>
          </p:cNvPr>
          <p:cNvSpPr/>
          <p:nvPr/>
        </p:nvSpPr>
        <p:spPr>
          <a:xfrm>
            <a:off x="3374136" y="159105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5-е место</a:t>
            </a:r>
            <a:endParaRPr lang="en-US" sz="3400" dirty="0"/>
          </a:p>
        </p:txBody>
      </p:sp>
      <p:sp>
        <p:nvSpPr>
          <p:cNvPr id="146" name="Text 15">
            <a:extLst>
              <a:ext uri="{FF2B5EF4-FFF2-40B4-BE49-F238E27FC236}">
                <a16:creationId xmlns:a16="http://schemas.microsoft.com/office/drawing/2014/main" id="{3C6FC0FC-EBF5-46CC-7129-E605C82E3338}"/>
              </a:ext>
            </a:extLst>
          </p:cNvPr>
          <p:cNvSpPr/>
          <p:nvPr/>
        </p:nvSpPr>
        <p:spPr>
          <a:xfrm>
            <a:off x="3374136" y="23042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150,2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млн</a:t>
            </a:r>
            <a:r>
              <a:rPr lang="ru-RU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 т</a:t>
            </a:r>
            <a:endParaRPr lang="en-US" sz="1200" dirty="0">
              <a:latin typeface="+mj-lt"/>
            </a:endParaRPr>
          </a:p>
        </p:txBody>
      </p:sp>
      <p:sp>
        <p:nvSpPr>
          <p:cNvPr id="147" name="Text 16">
            <a:extLst>
              <a:ext uri="{FF2B5EF4-FFF2-40B4-BE49-F238E27FC236}">
                <a16:creationId xmlns:a16="http://schemas.microsoft.com/office/drawing/2014/main" id="{ECA89382-A4D5-E03C-5B9B-62E074FD4A6F}"/>
              </a:ext>
            </a:extLst>
          </p:cNvPr>
          <p:cNvSpPr/>
          <p:nvPr/>
        </p:nvSpPr>
        <p:spPr>
          <a:xfrm>
            <a:off x="3374136" y="268833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Китай · 1 893,7 </a:t>
            </a:r>
            <a:r>
              <a:rPr lang="en-US" sz="1600" dirty="0" err="1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мл</a:t>
            </a:r>
            <a:r>
              <a:rPr lang="ru-RU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н т</a:t>
            </a:r>
            <a:endParaRPr lang="en-US" sz="900" dirty="0">
              <a:latin typeface="+mj-lt"/>
            </a:endParaRPr>
          </a:p>
        </p:txBody>
      </p:sp>
      <p:sp>
        <p:nvSpPr>
          <p:cNvPr id="148" name="Shape 17">
            <a:extLst>
              <a:ext uri="{FF2B5EF4-FFF2-40B4-BE49-F238E27FC236}">
                <a16:creationId xmlns:a16="http://schemas.microsoft.com/office/drawing/2014/main" id="{4C72E827-AFF9-A632-3B9B-0BDBC120C304}"/>
              </a:ext>
            </a:extLst>
          </p:cNvPr>
          <p:cNvSpPr/>
          <p:nvPr/>
        </p:nvSpPr>
        <p:spPr>
          <a:xfrm>
            <a:off x="6144768" y="1115568"/>
            <a:ext cx="2743200" cy="2304288"/>
          </a:xfrm>
          <a:prstGeom prst="rect">
            <a:avLst/>
          </a:prstGeom>
          <a:solidFill>
            <a:srgbClr val="010E20"/>
          </a:solidFill>
          <a:ln w="12700">
            <a:solidFill>
              <a:srgbClr val="010E20"/>
            </a:solidFill>
            <a:prstDash val="solid"/>
          </a:ln>
        </p:spPr>
      </p:sp>
      <p:sp>
        <p:nvSpPr>
          <p:cNvPr id="149" name="Shape 18">
            <a:extLst>
              <a:ext uri="{FF2B5EF4-FFF2-40B4-BE49-F238E27FC236}">
                <a16:creationId xmlns:a16="http://schemas.microsoft.com/office/drawing/2014/main" id="{406BAD0C-677F-D757-75EA-8C5DAECE6E0D}"/>
              </a:ext>
            </a:extLst>
          </p:cNvPr>
          <p:cNvSpPr/>
          <p:nvPr/>
        </p:nvSpPr>
        <p:spPr>
          <a:xfrm>
            <a:off x="6144768" y="1115568"/>
            <a:ext cx="274320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50" name="Text 19">
            <a:extLst>
              <a:ext uri="{FF2B5EF4-FFF2-40B4-BE49-F238E27FC236}">
                <a16:creationId xmlns:a16="http://schemas.microsoft.com/office/drawing/2014/main" id="{A9B8DCEA-1731-BBF1-E0B7-B2DC4E27CF98}"/>
              </a:ext>
            </a:extLst>
          </p:cNvPr>
          <p:cNvSpPr/>
          <p:nvPr/>
        </p:nvSpPr>
        <p:spPr>
          <a:xfrm>
            <a:off x="6272784" y="12070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Медь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51" name="Text 20">
            <a:extLst>
              <a:ext uri="{FF2B5EF4-FFF2-40B4-BE49-F238E27FC236}">
                <a16:creationId xmlns:a16="http://schemas.microsoft.com/office/drawing/2014/main" id="{9E394044-3EFE-115A-6BF1-A7BC882D42C6}"/>
              </a:ext>
            </a:extLst>
          </p:cNvPr>
          <p:cNvSpPr/>
          <p:nvPr/>
        </p:nvSpPr>
        <p:spPr>
          <a:xfrm>
            <a:off x="6272784" y="159105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5-е место</a:t>
            </a:r>
            <a:endParaRPr lang="en-US" sz="3400" dirty="0">
              <a:latin typeface="Century" panose="02040604050505020304" pitchFamily="18" charset="0"/>
            </a:endParaRPr>
          </a:p>
        </p:txBody>
      </p:sp>
      <p:sp>
        <p:nvSpPr>
          <p:cNvPr id="152" name="Text 21">
            <a:extLst>
              <a:ext uri="{FF2B5EF4-FFF2-40B4-BE49-F238E27FC236}">
                <a16:creationId xmlns:a16="http://schemas.microsoft.com/office/drawing/2014/main" id="{FF8EBF83-C8B9-DD44-6515-8E45EDCF4FFA}"/>
              </a:ext>
            </a:extLst>
          </p:cNvPr>
          <p:cNvSpPr/>
          <p:nvPr/>
        </p:nvSpPr>
        <p:spPr>
          <a:xfrm>
            <a:off x="6272784" y="23042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2 873 тыс.т</a:t>
            </a:r>
            <a:endParaRPr lang="en-US" sz="1600" dirty="0">
              <a:latin typeface="+mj-lt"/>
            </a:endParaRPr>
          </a:p>
        </p:txBody>
      </p:sp>
      <p:sp>
        <p:nvSpPr>
          <p:cNvPr id="153" name="Text 22">
            <a:extLst>
              <a:ext uri="{FF2B5EF4-FFF2-40B4-BE49-F238E27FC236}">
                <a16:creationId xmlns:a16="http://schemas.microsoft.com/office/drawing/2014/main" id="{0EFC0D28-9EF7-7F15-4628-D0A621B11887}"/>
              </a:ext>
            </a:extLst>
          </p:cNvPr>
          <p:cNvSpPr/>
          <p:nvPr/>
        </p:nvSpPr>
        <p:spPr>
          <a:xfrm>
            <a:off x="6272784" y="268833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Китай · 27 487 тыс.т</a:t>
            </a:r>
            <a:endParaRPr lang="en-US" sz="1600" dirty="0">
              <a:latin typeface="+mj-lt"/>
            </a:endParaRPr>
          </a:p>
        </p:txBody>
      </p:sp>
      <p:sp>
        <p:nvSpPr>
          <p:cNvPr id="154" name="Text 25">
            <a:extLst>
              <a:ext uri="{FF2B5EF4-FFF2-40B4-BE49-F238E27FC236}">
                <a16:creationId xmlns:a16="http://schemas.microsoft.com/office/drawing/2014/main" id="{6FB17A3A-240F-5E1C-F670-08283881EAFA}"/>
              </a:ext>
            </a:extLst>
          </p:cNvPr>
          <p:cNvSpPr/>
          <p:nvPr/>
        </p:nvSpPr>
        <p:spPr>
          <a:xfrm>
            <a:off x="9171432" y="12070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Золото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55" name="Text 26">
            <a:extLst>
              <a:ext uri="{FF2B5EF4-FFF2-40B4-BE49-F238E27FC236}">
                <a16:creationId xmlns:a16="http://schemas.microsoft.com/office/drawing/2014/main" id="{66E69D6B-44B6-BE11-D258-5D9455E547B8}"/>
              </a:ext>
            </a:extLst>
          </p:cNvPr>
          <p:cNvSpPr/>
          <p:nvPr/>
        </p:nvSpPr>
        <p:spPr>
          <a:xfrm>
            <a:off x="9171432" y="159105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AE6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2-е место</a:t>
            </a:r>
            <a:endParaRPr lang="en-US" sz="3400" dirty="0">
              <a:latin typeface="Century" panose="02040604050505020304" pitchFamily="18" charset="0"/>
            </a:endParaRPr>
          </a:p>
        </p:txBody>
      </p:sp>
      <p:sp>
        <p:nvSpPr>
          <p:cNvPr id="156" name="Text 27">
            <a:extLst>
              <a:ext uri="{FF2B5EF4-FFF2-40B4-BE49-F238E27FC236}">
                <a16:creationId xmlns:a16="http://schemas.microsoft.com/office/drawing/2014/main" id="{F1EA6C7D-C2BC-3BD7-30AF-7F2D1DFF0BBC}"/>
              </a:ext>
            </a:extLst>
          </p:cNvPr>
          <p:cNvSpPr/>
          <p:nvPr/>
        </p:nvSpPr>
        <p:spPr>
          <a:xfrm>
            <a:off x="9171432" y="23042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330 т</a:t>
            </a:r>
            <a:endParaRPr lang="en-US" sz="1600" dirty="0">
              <a:latin typeface="+mj-lt"/>
            </a:endParaRPr>
          </a:p>
        </p:txBody>
      </p:sp>
      <p:sp>
        <p:nvSpPr>
          <p:cNvPr id="157" name="Text 28">
            <a:extLst>
              <a:ext uri="{FF2B5EF4-FFF2-40B4-BE49-F238E27FC236}">
                <a16:creationId xmlns:a16="http://schemas.microsoft.com/office/drawing/2014/main" id="{064C9B4C-9B32-EE55-1263-C2D0DE15DD91}"/>
              </a:ext>
            </a:extLst>
          </p:cNvPr>
          <p:cNvSpPr/>
          <p:nvPr/>
        </p:nvSpPr>
        <p:spPr>
          <a:xfrm>
            <a:off x="9171432" y="268833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Китай · 377,2 т</a:t>
            </a:r>
            <a:endParaRPr lang="en-US" sz="1600" dirty="0">
              <a:latin typeface="+mj-lt"/>
            </a:endParaRPr>
          </a:p>
        </p:txBody>
      </p:sp>
      <p:sp>
        <p:nvSpPr>
          <p:cNvPr id="158" name="Shape 30">
            <a:extLst>
              <a:ext uri="{FF2B5EF4-FFF2-40B4-BE49-F238E27FC236}">
                <a16:creationId xmlns:a16="http://schemas.microsoft.com/office/drawing/2014/main" id="{EC54785A-BC20-16E3-C38A-F92EE1BE418F}"/>
              </a:ext>
            </a:extLst>
          </p:cNvPr>
          <p:cNvSpPr/>
          <p:nvPr/>
        </p:nvSpPr>
        <p:spPr>
          <a:xfrm>
            <a:off x="676656" y="3602736"/>
            <a:ext cx="3493008" cy="43891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9" name="Text 31">
            <a:extLst>
              <a:ext uri="{FF2B5EF4-FFF2-40B4-BE49-F238E27FC236}">
                <a16:creationId xmlns:a16="http://schemas.microsoft.com/office/drawing/2014/main" id="{081981F9-BB53-B00B-F3A6-59B4CD6BCD59}"/>
              </a:ext>
            </a:extLst>
          </p:cNvPr>
          <p:cNvSpPr/>
          <p:nvPr/>
        </p:nvSpPr>
        <p:spPr>
          <a:xfrm>
            <a:off x="804672" y="3694176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Никель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60" name="Text 32">
            <a:extLst>
              <a:ext uri="{FF2B5EF4-FFF2-40B4-BE49-F238E27FC236}">
                <a16:creationId xmlns:a16="http://schemas.microsoft.com/office/drawing/2014/main" id="{BA149FC1-E630-7F8D-30B9-AEAE44880FE9}"/>
              </a:ext>
            </a:extLst>
          </p:cNvPr>
          <p:cNvSpPr/>
          <p:nvPr/>
        </p:nvSpPr>
        <p:spPr>
          <a:xfrm>
            <a:off x="804672" y="407822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7AE6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3-е место</a:t>
            </a:r>
            <a:endParaRPr lang="en-US" sz="3400" dirty="0">
              <a:latin typeface="Century" panose="02040604050505020304" pitchFamily="18" charset="0"/>
            </a:endParaRPr>
          </a:p>
        </p:txBody>
      </p:sp>
      <p:sp>
        <p:nvSpPr>
          <p:cNvPr id="161" name="Text 33">
            <a:extLst>
              <a:ext uri="{FF2B5EF4-FFF2-40B4-BE49-F238E27FC236}">
                <a16:creationId xmlns:a16="http://schemas.microsoft.com/office/drawing/2014/main" id="{78B5F693-E928-92C4-A476-890AEE7D78F0}"/>
              </a:ext>
            </a:extLst>
          </p:cNvPr>
          <p:cNvSpPr/>
          <p:nvPr/>
        </p:nvSpPr>
        <p:spPr>
          <a:xfrm>
            <a:off x="804672" y="4791456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422 тыс.т</a:t>
            </a:r>
            <a:endParaRPr lang="en-US" sz="1600" dirty="0">
              <a:latin typeface="+mj-lt"/>
            </a:endParaRPr>
          </a:p>
        </p:txBody>
      </p:sp>
      <p:sp>
        <p:nvSpPr>
          <p:cNvPr id="162" name="Text 34">
            <a:extLst>
              <a:ext uri="{FF2B5EF4-FFF2-40B4-BE49-F238E27FC236}">
                <a16:creationId xmlns:a16="http://schemas.microsoft.com/office/drawing/2014/main" id="{097A2E18-2A44-9EFE-1982-3B956CFAEC34}"/>
              </a:ext>
            </a:extLst>
          </p:cNvPr>
          <p:cNvSpPr/>
          <p:nvPr/>
        </p:nvSpPr>
        <p:spPr>
          <a:xfrm>
            <a:off x="804672" y="5175504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Индонезия · 3 937 тыс.т</a:t>
            </a:r>
            <a:endParaRPr lang="en-US" sz="1600" dirty="0">
              <a:latin typeface="+mj-lt"/>
            </a:endParaRPr>
          </a:p>
        </p:txBody>
      </p:sp>
      <p:sp>
        <p:nvSpPr>
          <p:cNvPr id="163" name="Shape 36">
            <a:extLst>
              <a:ext uri="{FF2B5EF4-FFF2-40B4-BE49-F238E27FC236}">
                <a16:creationId xmlns:a16="http://schemas.microsoft.com/office/drawing/2014/main" id="{FA1D1CD1-0036-2A40-AFD6-744AAD14DE85}"/>
              </a:ext>
            </a:extLst>
          </p:cNvPr>
          <p:cNvSpPr/>
          <p:nvPr/>
        </p:nvSpPr>
        <p:spPr>
          <a:xfrm>
            <a:off x="4370832" y="3602736"/>
            <a:ext cx="3493008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164" name="Text 37">
            <a:extLst>
              <a:ext uri="{FF2B5EF4-FFF2-40B4-BE49-F238E27FC236}">
                <a16:creationId xmlns:a16="http://schemas.microsoft.com/office/drawing/2014/main" id="{3BAA08E5-9D63-4CA7-6857-9214E5F31B01}"/>
              </a:ext>
            </a:extLst>
          </p:cNvPr>
          <p:cNvSpPr/>
          <p:nvPr/>
        </p:nvSpPr>
        <p:spPr>
          <a:xfrm>
            <a:off x="4498848" y="3694176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Уран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65" name="Text 38">
            <a:extLst>
              <a:ext uri="{FF2B5EF4-FFF2-40B4-BE49-F238E27FC236}">
                <a16:creationId xmlns:a16="http://schemas.microsoft.com/office/drawing/2014/main" id="{8949AC41-F6A1-2E70-067B-4B8643F3835A}"/>
              </a:ext>
            </a:extLst>
          </p:cNvPr>
          <p:cNvSpPr/>
          <p:nvPr/>
        </p:nvSpPr>
        <p:spPr>
          <a:xfrm>
            <a:off x="4498848" y="407822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6DD4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6-е место</a:t>
            </a:r>
            <a:endParaRPr lang="en-US" sz="3400" dirty="0">
              <a:latin typeface="Century" panose="02040604050505020304" pitchFamily="18" charset="0"/>
            </a:endParaRPr>
          </a:p>
        </p:txBody>
      </p:sp>
      <p:sp>
        <p:nvSpPr>
          <p:cNvPr id="166" name="Text 39">
            <a:extLst>
              <a:ext uri="{FF2B5EF4-FFF2-40B4-BE49-F238E27FC236}">
                <a16:creationId xmlns:a16="http://schemas.microsoft.com/office/drawing/2014/main" id="{38E0845E-3D90-2569-018A-6ECC7FFF7E50}"/>
              </a:ext>
            </a:extLst>
          </p:cNvPr>
          <p:cNvSpPr/>
          <p:nvPr/>
        </p:nvSpPr>
        <p:spPr>
          <a:xfrm>
            <a:off x="4498848" y="4791456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2 738 т</a:t>
            </a:r>
            <a:endParaRPr lang="en-US" sz="1600" dirty="0">
              <a:latin typeface="+mj-lt"/>
            </a:endParaRPr>
          </a:p>
        </p:txBody>
      </p:sp>
      <p:sp>
        <p:nvSpPr>
          <p:cNvPr id="167" name="Text 40">
            <a:extLst>
              <a:ext uri="{FF2B5EF4-FFF2-40B4-BE49-F238E27FC236}">
                <a16:creationId xmlns:a16="http://schemas.microsoft.com/office/drawing/2014/main" id="{E3A75DDD-9E48-E8B9-3B75-CF3DFE8A39ED}"/>
              </a:ext>
            </a:extLst>
          </p:cNvPr>
          <p:cNvSpPr/>
          <p:nvPr/>
        </p:nvSpPr>
        <p:spPr>
          <a:xfrm>
            <a:off x="4498848" y="5175504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Казахстан · 23 270 т</a:t>
            </a:r>
            <a:endParaRPr lang="en-US" sz="1600" dirty="0">
              <a:latin typeface="+mj-lt"/>
            </a:endParaRPr>
          </a:p>
        </p:txBody>
      </p:sp>
      <p:sp>
        <p:nvSpPr>
          <p:cNvPr id="168" name="Shape 42">
            <a:extLst>
              <a:ext uri="{FF2B5EF4-FFF2-40B4-BE49-F238E27FC236}">
                <a16:creationId xmlns:a16="http://schemas.microsoft.com/office/drawing/2014/main" id="{7165A0F7-F847-7355-5A54-D6D58C993178}"/>
              </a:ext>
            </a:extLst>
          </p:cNvPr>
          <p:cNvSpPr/>
          <p:nvPr/>
        </p:nvSpPr>
        <p:spPr>
          <a:xfrm>
            <a:off x="8065008" y="3602736"/>
            <a:ext cx="3493008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169" name="Text 43">
            <a:extLst>
              <a:ext uri="{FF2B5EF4-FFF2-40B4-BE49-F238E27FC236}">
                <a16:creationId xmlns:a16="http://schemas.microsoft.com/office/drawing/2014/main" id="{29EBB0DB-FA15-F7FE-403D-BEE41FB236A1}"/>
              </a:ext>
            </a:extLst>
          </p:cNvPr>
          <p:cNvSpPr/>
          <p:nvPr/>
        </p:nvSpPr>
        <p:spPr>
          <a:xfrm>
            <a:off x="8193024" y="3694176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РЗМ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170" name="Text 44">
            <a:extLst>
              <a:ext uri="{FF2B5EF4-FFF2-40B4-BE49-F238E27FC236}">
                <a16:creationId xmlns:a16="http://schemas.microsoft.com/office/drawing/2014/main" id="{65663916-4C08-572C-CD15-E34A1590EE25}"/>
              </a:ext>
            </a:extLst>
          </p:cNvPr>
          <p:cNvSpPr/>
          <p:nvPr/>
        </p:nvSpPr>
        <p:spPr>
          <a:xfrm>
            <a:off x="8193024" y="4078224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6DD4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7-е место</a:t>
            </a:r>
            <a:endParaRPr lang="en-US" sz="3400" dirty="0">
              <a:latin typeface="Century" panose="02040604050505020304" pitchFamily="18" charset="0"/>
            </a:endParaRPr>
          </a:p>
        </p:txBody>
      </p:sp>
      <p:sp>
        <p:nvSpPr>
          <p:cNvPr id="171" name="Text 45">
            <a:extLst>
              <a:ext uri="{FF2B5EF4-FFF2-40B4-BE49-F238E27FC236}">
                <a16:creationId xmlns:a16="http://schemas.microsoft.com/office/drawing/2014/main" id="{69017624-A914-A69A-4A09-FE814328DDA7}"/>
              </a:ext>
            </a:extLst>
          </p:cNvPr>
          <p:cNvSpPr/>
          <p:nvPr/>
        </p:nvSpPr>
        <p:spPr>
          <a:xfrm>
            <a:off x="8193024" y="4791456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1 771 тыс.т</a:t>
            </a:r>
            <a:endParaRPr lang="en-US" sz="1600" dirty="0">
              <a:latin typeface="+mj-lt"/>
            </a:endParaRPr>
          </a:p>
        </p:txBody>
      </p:sp>
      <p:sp>
        <p:nvSpPr>
          <p:cNvPr id="172" name="Text 46">
            <a:extLst>
              <a:ext uri="{FF2B5EF4-FFF2-40B4-BE49-F238E27FC236}">
                <a16:creationId xmlns:a16="http://schemas.microsoft.com/office/drawing/2014/main" id="{ACB45936-72BC-05D4-93F8-F4F613A135D3}"/>
              </a:ext>
            </a:extLst>
          </p:cNvPr>
          <p:cNvSpPr/>
          <p:nvPr/>
        </p:nvSpPr>
        <p:spPr>
          <a:xfrm>
            <a:off x="8193024" y="5175504"/>
            <a:ext cx="3236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Лидер: Китай · 270 000 тыс.т</a:t>
            </a:r>
            <a:endParaRPr lang="en-US" sz="1600" dirty="0">
              <a:latin typeface="+mj-lt"/>
            </a:endParaRPr>
          </a:p>
        </p:txBody>
      </p:sp>
      <p:sp>
        <p:nvSpPr>
          <p:cNvPr id="173" name="Shape 24">
            <a:extLst>
              <a:ext uri="{FF2B5EF4-FFF2-40B4-BE49-F238E27FC236}">
                <a16:creationId xmlns:a16="http://schemas.microsoft.com/office/drawing/2014/main" id="{14442512-BB68-1130-F87A-D3B8340FA138}"/>
              </a:ext>
            </a:extLst>
          </p:cNvPr>
          <p:cNvSpPr/>
          <p:nvPr/>
        </p:nvSpPr>
        <p:spPr>
          <a:xfrm>
            <a:off x="9043416" y="1115568"/>
            <a:ext cx="2743200" cy="43891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Финансовые показатели</a:t>
            </a:r>
            <a:endParaRPr lang="en-US" sz="46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ведущих компаний</a:t>
            </a:r>
            <a:endParaRPr lang="en-US" sz="46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Выручка · EBITDA · CAPEX · EBITDA/CAPEX · Маржинальность · 11 компаний · 2025 г.</a:t>
            </a: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2.1  ВЫРУЧКА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$0,96</a:t>
            </a:r>
            <a:endParaRPr lang="en-US" sz="5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млрд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Выручка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 2025 г.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Разрыв с лидером (BHP)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×53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* Курс ЦБ РФ 83,21 руб/$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Выручка ведущих горнодобывающих компаний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Млрд долл. США</a:t>
            </a:r>
            <a:endParaRPr lang="en-US" sz="14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компаний 2025 г. PwC Mine 2026. АО «Росатом Недра» </a:t>
            </a:r>
            <a:r>
              <a:rPr lang="ru-RU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внутренняя отчётность.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2.2  EBITDA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$0,25</a:t>
            </a:r>
            <a:endParaRPr lang="en-US" sz="5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млрд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EBITDA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 2025 г.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Разрыв с BHP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×104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EBITDA ведущих горнодобывающих компаний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Млрд долл. США · Операционная прибыль до вычета амортизации</a:t>
            </a:r>
            <a:endParaRPr lang="en-US" sz="14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компаний 2025 г. PwC Mine 2026.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2.3  CAPEX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$0,33</a:t>
            </a:r>
            <a:endParaRPr lang="en-US" sz="54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млрд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CAPEX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 2025 г.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CAPEX &gt; EBITDA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132%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Активная фаза роста: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инвестиции опережают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текущую прибыль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Капитальные затраты (CAPEX) ведущих компаний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Млрд долл. США · Инвестиции в развитие активов</a:t>
            </a:r>
            <a:endParaRPr lang="en-US" sz="14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компаний 2025 г. PwC Mine 2026.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2.4  EBITDA/CAPEX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75,8%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Коэфф. EBITDA/CAPEX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&lt; 100% → CAPEX &gt; EBITDA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 (Newmont)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450%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&gt; 100% → прибыль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превышает CAPEX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Коэффициент EBITDA/CAPEX: эффективность вложений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EBITDA ÷ CAPEX × 100% · Чем </a:t>
            </a:r>
            <a:r>
              <a:rPr lang="en-US" sz="1400" dirty="0" err="1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выше</a:t>
            </a: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 тем больше прибыль на вложенный доллар</a:t>
            </a:r>
            <a:endParaRPr lang="en-US" sz="14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2025 г. PwC Mine 2026.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2.5  МАРЖА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26,0%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EBITDA-маржа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(среднеотраслевой уровень)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Лидер (Agnico Eagle)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68,1%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EBITDA-маржа ведущих горнодобывающих компаний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EBITDA ÷ Выручка × 100% · Операционная рентабельность</a:t>
            </a:r>
            <a:endParaRPr lang="en-US" sz="14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2025 г. PwC Mine 2026.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E4AD6-B516-62AC-D6FF-80B3877A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734632-9154-0702-15D1-881C5D6F96C9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C05F6F0-F4A9-9E42-95E9-5AC2EA926868}"/>
              </a:ext>
            </a:extLst>
          </p:cNvPr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76EF90-FB23-4ECC-FC9B-75824366ED53}"/>
              </a:ext>
            </a:extLst>
          </p:cNvPr>
          <p:cNvSpPr/>
          <p:nvPr/>
        </p:nvSpPr>
        <p:spPr>
          <a:xfrm>
            <a:off x="347472" y="118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02  ·  </a:t>
            </a:r>
            <a:r>
              <a:rPr lang="ru-RU" sz="900" kern="0" spc="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900" kern="0" spc="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</a:t>
            </a:r>
            <a:endParaRPr lang="en-US" sz="9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1A33301A-F9AA-9204-41AE-7C429783A9D7}"/>
              </a:ext>
            </a:extLst>
          </p:cNvPr>
          <p:cNvSpPr/>
          <p:nvPr/>
        </p:nvSpPr>
        <p:spPr>
          <a:xfrm>
            <a:off x="347472" y="647395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Годовые отчёты 2025 г. · PwC Mine 2026 · АО «Росатом Недра» </a:t>
            </a:r>
            <a:r>
              <a:rPr lang="ru-RU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внутренняя отчётность.</a:t>
            </a:r>
            <a:endParaRPr lang="en-US" sz="7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AE85D17-BA86-91CE-91E0-694C622C5262}"/>
              </a:ext>
            </a:extLst>
          </p:cNvPr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70" name="Text 2">
            <a:extLst>
              <a:ext uri="{FF2B5EF4-FFF2-40B4-BE49-F238E27FC236}">
                <a16:creationId xmlns:a16="http://schemas.microsoft.com/office/drawing/2014/main" id="{7CB5A7A1-441E-1F74-BD6B-4A38E4041A12}"/>
              </a:ext>
            </a:extLst>
          </p:cNvPr>
          <p:cNvSpPr/>
          <p:nvPr/>
        </p:nvSpPr>
        <p:spPr>
          <a:xfrm>
            <a:off x="365760" y="365760"/>
            <a:ext cx="1143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«Росатом Недра»: место в отрасли (2025 г.)</a:t>
            </a:r>
            <a:endParaRPr lang="en-US" sz="2600" dirty="0"/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C1268F5C-4859-FC70-6AF6-C6213109685B}"/>
              </a:ext>
            </a:extLst>
          </p:cNvPr>
          <p:cNvSpPr/>
          <p:nvPr/>
        </p:nvSpPr>
        <p:spPr>
          <a:xfrm>
            <a:off x="320040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Росатом Недра</a:t>
            </a:r>
            <a:endParaRPr lang="en-US" sz="1400" dirty="0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1904844F-FECB-8BDB-2314-3352C8EEF72D}"/>
              </a:ext>
            </a:extLst>
          </p:cNvPr>
          <p:cNvSpPr/>
          <p:nvPr/>
        </p:nvSpPr>
        <p:spPr>
          <a:xfrm>
            <a:off x="594360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отрасли</a:t>
            </a:r>
            <a:endParaRPr lang="en-US" sz="14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E582A447-7F5C-FD00-1932-51AE12F7AC27}"/>
              </a:ext>
            </a:extLst>
          </p:cNvPr>
          <p:cNvSpPr/>
          <p:nvPr/>
        </p:nvSpPr>
        <p:spPr>
          <a:xfrm>
            <a:off x="868680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 отрасли</a:t>
            </a:r>
            <a:endParaRPr lang="en-US" sz="140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3649ADB0-BD7D-B7B8-F7F5-A663DC89AB03}"/>
              </a:ext>
            </a:extLst>
          </p:cNvPr>
          <p:cNvSpPr/>
          <p:nvPr/>
        </p:nvSpPr>
        <p:spPr>
          <a:xfrm>
            <a:off x="365760" y="1298448"/>
            <a:ext cx="11430000" cy="0"/>
          </a:xfrm>
          <a:prstGeom prst="line">
            <a:avLst/>
          </a:prstGeom>
          <a:noFill/>
          <a:ln w="10160">
            <a:solidFill>
              <a:srgbClr val="0D2346"/>
            </a:solidFill>
            <a:prstDash val="solid"/>
          </a:ln>
        </p:spPr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A348E830-6ACA-2A68-5B85-5CE7CDD0D2CF}"/>
              </a:ext>
            </a:extLst>
          </p:cNvPr>
          <p:cNvSpPr/>
          <p:nvPr/>
        </p:nvSpPr>
        <p:spPr>
          <a:xfrm>
            <a:off x="201168" y="1371600"/>
            <a:ext cx="11759184" cy="1170432"/>
          </a:xfrm>
          <a:prstGeom prst="rect">
            <a:avLst/>
          </a:prstGeom>
          <a:solidFill>
            <a:srgbClr val="010C1A"/>
          </a:solidFill>
          <a:ln w="12700">
            <a:solidFill>
              <a:srgbClr val="010C1A"/>
            </a:solidFill>
            <a:prstDash val="solid"/>
          </a:ln>
        </p:spPr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BA23CCF6-5938-D02C-77DC-64708B9F7856}"/>
              </a:ext>
            </a:extLst>
          </p:cNvPr>
          <p:cNvSpPr/>
          <p:nvPr/>
        </p:nvSpPr>
        <p:spPr>
          <a:xfrm>
            <a:off x="201168" y="1371600"/>
            <a:ext cx="201168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EF0A8E53-F10B-EB1C-B393-172740401152}"/>
              </a:ext>
            </a:extLst>
          </p:cNvPr>
          <p:cNvSpPr/>
          <p:nvPr/>
        </p:nvSpPr>
        <p:spPr>
          <a:xfrm>
            <a:off x="502920" y="1481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</a:t>
            </a:r>
            <a:endParaRPr lang="en-US" sz="1600" dirty="0"/>
          </a:p>
        </p:txBody>
      </p:sp>
      <p:sp>
        <p:nvSpPr>
          <p:cNvPr id="78" name="Text 10">
            <a:extLst>
              <a:ext uri="{FF2B5EF4-FFF2-40B4-BE49-F238E27FC236}">
                <a16:creationId xmlns:a16="http://schemas.microsoft.com/office/drawing/2014/main" id="{A672AA86-BB10-1C13-1A65-1C7401DE3A80}"/>
              </a:ext>
            </a:extLst>
          </p:cNvPr>
          <p:cNvSpPr/>
          <p:nvPr/>
        </p:nvSpPr>
        <p:spPr>
          <a:xfrm>
            <a:off x="502920" y="19202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×3,75 с 2015 г.</a:t>
            </a:r>
            <a:endParaRPr lang="en-US" sz="140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545EC216-0936-9E22-EADF-CE7FE41814EF}"/>
              </a:ext>
            </a:extLst>
          </p:cNvPr>
          <p:cNvSpPr/>
          <p:nvPr/>
        </p:nvSpPr>
        <p:spPr>
          <a:xfrm>
            <a:off x="3200400" y="15361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$0,96 млрд</a:t>
            </a:r>
            <a:endParaRPr lang="en-US" sz="2200" dirty="0"/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58F6728B-41D7-611A-72D7-DCFDB9D4A0DB}"/>
              </a:ext>
            </a:extLst>
          </p:cNvPr>
          <p:cNvSpPr/>
          <p:nvPr/>
        </p:nvSpPr>
        <p:spPr>
          <a:xfrm>
            <a:off x="5943600" y="15361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$16,8 млрд</a:t>
            </a:r>
            <a:endParaRPr lang="en-US" sz="2200" dirty="0"/>
          </a:p>
        </p:txBody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BB8F21C2-0B42-FB3F-0027-0914ED8A6A9D}"/>
              </a:ext>
            </a:extLst>
          </p:cNvPr>
          <p:cNvSpPr/>
          <p:nvPr/>
        </p:nvSpPr>
        <p:spPr>
          <a:xfrm>
            <a:off x="8686800" y="16002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BHP  $51,3 млрд</a:t>
            </a:r>
            <a:endParaRPr lang="en-US" sz="1300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54DC230A-61D6-9AC1-DB22-2F07E76E4DC7}"/>
              </a:ext>
            </a:extLst>
          </p:cNvPr>
          <p:cNvSpPr/>
          <p:nvPr/>
        </p:nvSpPr>
        <p:spPr>
          <a:xfrm>
            <a:off x="3154680" y="2249424"/>
            <a:ext cx="5303520" cy="2011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83" name="Shape 15">
            <a:extLst>
              <a:ext uri="{FF2B5EF4-FFF2-40B4-BE49-F238E27FC236}">
                <a16:creationId xmlns:a16="http://schemas.microsoft.com/office/drawing/2014/main" id="{8B543207-C010-FFFA-C5B5-3394346A3041}"/>
              </a:ext>
            </a:extLst>
          </p:cNvPr>
          <p:cNvSpPr/>
          <p:nvPr/>
        </p:nvSpPr>
        <p:spPr>
          <a:xfrm>
            <a:off x="3154680" y="2249424"/>
            <a:ext cx="99247" cy="201168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22CC4BFE-8445-9BBE-7CB1-4A0DA812E7B8}"/>
              </a:ext>
            </a:extLst>
          </p:cNvPr>
          <p:cNvSpPr/>
          <p:nvPr/>
        </p:nvSpPr>
        <p:spPr>
          <a:xfrm>
            <a:off x="201168" y="2569464"/>
            <a:ext cx="11759184" cy="0"/>
          </a:xfrm>
          <a:prstGeom prst="line">
            <a:avLst/>
          </a:prstGeom>
          <a:noFill/>
          <a:ln w="6350">
            <a:solidFill>
              <a:srgbClr val="0A1A2E"/>
            </a:solidFill>
            <a:prstDash val="solid"/>
          </a:ln>
        </p:spPr>
      </p:sp>
      <p:sp>
        <p:nvSpPr>
          <p:cNvPr id="85" name="Shape 17">
            <a:extLst>
              <a:ext uri="{FF2B5EF4-FFF2-40B4-BE49-F238E27FC236}">
                <a16:creationId xmlns:a16="http://schemas.microsoft.com/office/drawing/2014/main" id="{C512594A-D699-60EB-81FF-28235734BB71}"/>
              </a:ext>
            </a:extLst>
          </p:cNvPr>
          <p:cNvSpPr/>
          <p:nvPr/>
        </p:nvSpPr>
        <p:spPr>
          <a:xfrm>
            <a:off x="201168" y="2596896"/>
            <a:ext cx="11759184" cy="1170432"/>
          </a:xfrm>
          <a:prstGeom prst="rect">
            <a:avLst/>
          </a:prstGeom>
          <a:solidFill>
            <a:srgbClr val="010C1A"/>
          </a:solidFill>
          <a:ln w="12700">
            <a:solidFill>
              <a:srgbClr val="010C1A"/>
            </a:solidFill>
            <a:prstDash val="solid"/>
          </a:ln>
        </p:spPr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2CA335F3-2D65-A014-570F-9046A34F873B}"/>
              </a:ext>
            </a:extLst>
          </p:cNvPr>
          <p:cNvSpPr/>
          <p:nvPr/>
        </p:nvSpPr>
        <p:spPr>
          <a:xfrm>
            <a:off x="201168" y="2596896"/>
            <a:ext cx="201168" cy="1170432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658A8D19-F314-0CB9-7D31-3E448E531142}"/>
              </a:ext>
            </a:extLst>
          </p:cNvPr>
          <p:cNvSpPr/>
          <p:nvPr/>
        </p:nvSpPr>
        <p:spPr>
          <a:xfrm>
            <a:off x="502920" y="27066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EBITDA-маржа</a:t>
            </a:r>
            <a:endParaRPr lang="en-US" sz="1600" dirty="0"/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91D6740C-F3E7-5A43-375A-805A0266C09C}"/>
              </a:ext>
            </a:extLst>
          </p:cNvPr>
          <p:cNvSpPr/>
          <p:nvPr/>
        </p:nvSpPr>
        <p:spPr>
          <a:xfrm>
            <a:off x="502920" y="31455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среднеотраслевой уровень</a:t>
            </a:r>
            <a:endParaRPr lang="en-US" sz="1400" dirty="0"/>
          </a:p>
        </p:txBody>
      </p:sp>
      <p:sp>
        <p:nvSpPr>
          <p:cNvPr id="89" name="Text 21">
            <a:extLst>
              <a:ext uri="{FF2B5EF4-FFF2-40B4-BE49-F238E27FC236}">
                <a16:creationId xmlns:a16="http://schemas.microsoft.com/office/drawing/2014/main" id="{D137DDC2-2CB7-6402-0BEB-162F6FB96AA4}"/>
              </a:ext>
            </a:extLst>
          </p:cNvPr>
          <p:cNvSpPr/>
          <p:nvPr/>
        </p:nvSpPr>
        <p:spPr>
          <a:xfrm>
            <a:off x="3200400" y="27614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26,0%</a:t>
            </a:r>
            <a:endParaRPr lang="en-US" sz="2200" dirty="0"/>
          </a:p>
        </p:txBody>
      </p:sp>
      <p:sp>
        <p:nvSpPr>
          <p:cNvPr id="90" name="Text 22">
            <a:extLst>
              <a:ext uri="{FF2B5EF4-FFF2-40B4-BE49-F238E27FC236}">
                <a16:creationId xmlns:a16="http://schemas.microsoft.com/office/drawing/2014/main" id="{0DFF73FE-88BD-5215-915F-FE7095F9C370}"/>
              </a:ext>
            </a:extLst>
          </p:cNvPr>
          <p:cNvSpPr/>
          <p:nvPr/>
        </p:nvSpPr>
        <p:spPr>
          <a:xfrm>
            <a:off x="5943600" y="27614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~38%</a:t>
            </a:r>
            <a:endParaRPr lang="en-US" sz="2200" dirty="0"/>
          </a:p>
        </p:txBody>
      </p:sp>
      <p:sp>
        <p:nvSpPr>
          <p:cNvPr id="91" name="Text 23">
            <a:extLst>
              <a:ext uri="{FF2B5EF4-FFF2-40B4-BE49-F238E27FC236}">
                <a16:creationId xmlns:a16="http://schemas.microsoft.com/office/drawing/2014/main" id="{BB137BDA-E7D8-50F4-4D30-1131C0C1F2F0}"/>
              </a:ext>
            </a:extLst>
          </p:cNvPr>
          <p:cNvSpPr/>
          <p:nvPr/>
        </p:nvSpPr>
        <p:spPr>
          <a:xfrm>
            <a:off x="8686800" y="282549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Agnico Eagle  68,1%</a:t>
            </a:r>
            <a:endParaRPr lang="en-US" sz="1300" dirty="0"/>
          </a:p>
        </p:txBody>
      </p:sp>
      <p:sp>
        <p:nvSpPr>
          <p:cNvPr id="92" name="Shape 24">
            <a:extLst>
              <a:ext uri="{FF2B5EF4-FFF2-40B4-BE49-F238E27FC236}">
                <a16:creationId xmlns:a16="http://schemas.microsoft.com/office/drawing/2014/main" id="{45827F76-EB8F-0CAC-8B8F-EA360D8EEB9A}"/>
              </a:ext>
            </a:extLst>
          </p:cNvPr>
          <p:cNvSpPr/>
          <p:nvPr/>
        </p:nvSpPr>
        <p:spPr>
          <a:xfrm>
            <a:off x="3154680" y="3474720"/>
            <a:ext cx="5303520" cy="2011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C3BEEA2A-F8EE-07BA-C187-25C567E5392E}"/>
              </a:ext>
            </a:extLst>
          </p:cNvPr>
          <p:cNvSpPr/>
          <p:nvPr/>
        </p:nvSpPr>
        <p:spPr>
          <a:xfrm>
            <a:off x="3154680" y="3474720"/>
            <a:ext cx="2024839" cy="201168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4" name="Shape 26">
            <a:extLst>
              <a:ext uri="{FF2B5EF4-FFF2-40B4-BE49-F238E27FC236}">
                <a16:creationId xmlns:a16="http://schemas.microsoft.com/office/drawing/2014/main" id="{176DBDB8-4CE7-AB74-CF1E-E1B3C8A8456C}"/>
              </a:ext>
            </a:extLst>
          </p:cNvPr>
          <p:cNvSpPr/>
          <p:nvPr/>
        </p:nvSpPr>
        <p:spPr>
          <a:xfrm>
            <a:off x="201168" y="3794760"/>
            <a:ext cx="11759184" cy="0"/>
          </a:xfrm>
          <a:prstGeom prst="line">
            <a:avLst/>
          </a:prstGeom>
          <a:noFill/>
          <a:ln w="6350">
            <a:solidFill>
              <a:srgbClr val="0A1A2E"/>
            </a:solidFill>
            <a:prstDash val="solid"/>
          </a:ln>
        </p:spPr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B67CA2E4-9971-B72C-846F-EA0189B8CA5C}"/>
              </a:ext>
            </a:extLst>
          </p:cNvPr>
          <p:cNvSpPr/>
          <p:nvPr/>
        </p:nvSpPr>
        <p:spPr>
          <a:xfrm>
            <a:off x="201168" y="3822192"/>
            <a:ext cx="11759184" cy="1170432"/>
          </a:xfrm>
          <a:prstGeom prst="rect">
            <a:avLst/>
          </a:prstGeom>
          <a:solidFill>
            <a:srgbClr val="010C1A"/>
          </a:solidFill>
          <a:ln w="12700">
            <a:solidFill>
              <a:srgbClr val="010C1A"/>
            </a:solidFill>
            <a:prstDash val="solid"/>
          </a:ln>
        </p:spPr>
      </p:sp>
      <p:sp>
        <p:nvSpPr>
          <p:cNvPr id="96" name="Shape 28">
            <a:extLst>
              <a:ext uri="{FF2B5EF4-FFF2-40B4-BE49-F238E27FC236}">
                <a16:creationId xmlns:a16="http://schemas.microsoft.com/office/drawing/2014/main" id="{A1294DAA-3BDE-F25B-BD86-C7DA364E338D}"/>
              </a:ext>
            </a:extLst>
          </p:cNvPr>
          <p:cNvSpPr/>
          <p:nvPr/>
        </p:nvSpPr>
        <p:spPr>
          <a:xfrm>
            <a:off x="201168" y="3822192"/>
            <a:ext cx="201168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C2626499-099A-2A44-4617-AF05B4B97C12}"/>
              </a:ext>
            </a:extLst>
          </p:cNvPr>
          <p:cNvSpPr/>
          <p:nvPr/>
        </p:nvSpPr>
        <p:spPr>
          <a:xfrm>
            <a:off x="502920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600" dirty="0"/>
          </a:p>
        </p:txBody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3EFA9816-82B6-2BB9-190D-B670BDBDA776}"/>
              </a:ext>
            </a:extLst>
          </p:cNvPr>
          <p:cNvSpPr/>
          <p:nvPr/>
        </p:nvSpPr>
        <p:spPr>
          <a:xfrm>
            <a:off x="502920" y="43708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&gt; EBITDA </a:t>
            </a:r>
            <a:r>
              <a:rPr lang="ru-RU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фаза роста</a:t>
            </a:r>
            <a:endParaRPr lang="en-US" sz="1400" dirty="0"/>
          </a:p>
        </p:txBody>
      </p:sp>
      <p:sp>
        <p:nvSpPr>
          <p:cNvPr id="99" name="Text 31">
            <a:extLst>
              <a:ext uri="{FF2B5EF4-FFF2-40B4-BE49-F238E27FC236}">
                <a16:creationId xmlns:a16="http://schemas.microsoft.com/office/drawing/2014/main" id="{CD5F8E29-F4CC-D663-47AD-10E0DE665AB6}"/>
              </a:ext>
            </a:extLst>
          </p:cNvPr>
          <p:cNvSpPr/>
          <p:nvPr/>
        </p:nvSpPr>
        <p:spPr>
          <a:xfrm>
            <a:off x="3200400" y="3986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$0,33 млрд</a:t>
            </a:r>
            <a:endParaRPr lang="en-US" sz="2200" dirty="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27C72518-2112-F6CA-7668-5CDC8931E380}"/>
              </a:ext>
            </a:extLst>
          </p:cNvPr>
          <p:cNvSpPr/>
          <p:nvPr/>
        </p:nvSpPr>
        <p:spPr>
          <a:xfrm>
            <a:off x="5943600" y="3986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$2,6 млрд</a:t>
            </a:r>
            <a:endParaRPr lang="en-US" sz="2200" dirty="0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5627C211-633A-A717-703E-9E0D76257682}"/>
              </a:ext>
            </a:extLst>
          </p:cNvPr>
          <p:cNvSpPr/>
          <p:nvPr/>
        </p:nvSpPr>
        <p:spPr>
          <a:xfrm>
            <a:off x="8686800" y="40507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BHP  $9,8 млрд</a:t>
            </a:r>
            <a:endParaRPr lang="en-US" sz="1300" dirty="0"/>
          </a:p>
        </p:txBody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64A8F8C0-DB99-905F-EA28-34B8E6C1062E}"/>
              </a:ext>
            </a:extLst>
          </p:cNvPr>
          <p:cNvSpPr/>
          <p:nvPr/>
        </p:nvSpPr>
        <p:spPr>
          <a:xfrm>
            <a:off x="3154680" y="4700016"/>
            <a:ext cx="5303520" cy="2011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03" name="Shape 35">
            <a:extLst>
              <a:ext uri="{FF2B5EF4-FFF2-40B4-BE49-F238E27FC236}">
                <a16:creationId xmlns:a16="http://schemas.microsoft.com/office/drawing/2014/main" id="{F58CB444-A1F4-0D5C-12C4-3CF59EE85F0E}"/>
              </a:ext>
            </a:extLst>
          </p:cNvPr>
          <p:cNvSpPr/>
          <p:nvPr/>
        </p:nvSpPr>
        <p:spPr>
          <a:xfrm>
            <a:off x="3154680" y="4700016"/>
            <a:ext cx="17858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D203098F-5C8F-576C-05B7-D898AB432D65}"/>
              </a:ext>
            </a:extLst>
          </p:cNvPr>
          <p:cNvSpPr/>
          <p:nvPr/>
        </p:nvSpPr>
        <p:spPr>
          <a:xfrm>
            <a:off x="201168" y="5020056"/>
            <a:ext cx="11759184" cy="0"/>
          </a:xfrm>
          <a:prstGeom prst="line">
            <a:avLst/>
          </a:prstGeom>
          <a:noFill/>
          <a:ln w="6350">
            <a:solidFill>
              <a:srgbClr val="0A1A2E"/>
            </a:solidFill>
            <a:prstDash val="solid"/>
          </a:ln>
        </p:spPr>
      </p:sp>
      <p:sp>
        <p:nvSpPr>
          <p:cNvPr id="105" name="Shape 37">
            <a:extLst>
              <a:ext uri="{FF2B5EF4-FFF2-40B4-BE49-F238E27FC236}">
                <a16:creationId xmlns:a16="http://schemas.microsoft.com/office/drawing/2014/main" id="{4CA0CFEF-5AD3-14C1-3C16-71DD60720ECF}"/>
              </a:ext>
            </a:extLst>
          </p:cNvPr>
          <p:cNvSpPr/>
          <p:nvPr/>
        </p:nvSpPr>
        <p:spPr>
          <a:xfrm>
            <a:off x="201168" y="5047488"/>
            <a:ext cx="11759184" cy="1170432"/>
          </a:xfrm>
          <a:prstGeom prst="rect">
            <a:avLst/>
          </a:prstGeom>
          <a:solidFill>
            <a:srgbClr val="010C1A"/>
          </a:solidFill>
          <a:ln w="12700">
            <a:solidFill>
              <a:srgbClr val="010C1A"/>
            </a:solidFill>
            <a:prstDash val="solid"/>
          </a:ln>
        </p:spPr>
      </p:sp>
      <p:sp>
        <p:nvSpPr>
          <p:cNvPr id="106" name="Shape 38">
            <a:extLst>
              <a:ext uri="{FF2B5EF4-FFF2-40B4-BE49-F238E27FC236}">
                <a16:creationId xmlns:a16="http://schemas.microsoft.com/office/drawing/2014/main" id="{2C3765B1-2036-93F9-957B-90B618C7E86F}"/>
              </a:ext>
            </a:extLst>
          </p:cNvPr>
          <p:cNvSpPr/>
          <p:nvPr/>
        </p:nvSpPr>
        <p:spPr>
          <a:xfrm>
            <a:off x="201168" y="5047488"/>
            <a:ext cx="201168" cy="1170432"/>
          </a:xfrm>
          <a:prstGeom prst="rect">
            <a:avLst/>
          </a:prstGeom>
          <a:solidFill>
            <a:srgbClr val="8AAFD0"/>
          </a:solidFill>
          <a:ln w="12700">
            <a:solidFill>
              <a:srgbClr val="8AAFD0"/>
            </a:solidFill>
            <a:prstDash val="solid"/>
          </a:ln>
        </p:spPr>
      </p:sp>
      <p:sp>
        <p:nvSpPr>
          <p:cNvPr id="107" name="Text 39">
            <a:extLst>
              <a:ext uri="{FF2B5EF4-FFF2-40B4-BE49-F238E27FC236}">
                <a16:creationId xmlns:a16="http://schemas.microsoft.com/office/drawing/2014/main" id="{AAC45CC6-30C3-79A3-528A-536E16321A10}"/>
              </a:ext>
            </a:extLst>
          </p:cNvPr>
          <p:cNvSpPr/>
          <p:nvPr/>
        </p:nvSpPr>
        <p:spPr>
          <a:xfrm>
            <a:off x="502920" y="51572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EBITDA/CAPEX</a:t>
            </a:r>
            <a:endParaRPr lang="en-US" sz="1600" dirty="0"/>
          </a:p>
        </p:txBody>
      </p:sp>
      <p:sp>
        <p:nvSpPr>
          <p:cNvPr id="108" name="Text 40">
            <a:extLst>
              <a:ext uri="{FF2B5EF4-FFF2-40B4-BE49-F238E27FC236}">
                <a16:creationId xmlns:a16="http://schemas.microsoft.com/office/drawing/2014/main" id="{FA70AE7D-3983-0AA5-9224-864EF4B44C65}"/>
              </a:ext>
            </a:extLst>
          </p:cNvPr>
          <p:cNvSpPr/>
          <p:nvPr/>
        </p:nvSpPr>
        <p:spPr>
          <a:xfrm>
            <a:off x="502920" y="559612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100% = инвест.фаза</a:t>
            </a:r>
            <a:endParaRPr lang="en-US" sz="1400" dirty="0"/>
          </a:p>
        </p:txBody>
      </p:sp>
      <p:sp>
        <p:nvSpPr>
          <p:cNvPr id="109" name="Text 41">
            <a:extLst>
              <a:ext uri="{FF2B5EF4-FFF2-40B4-BE49-F238E27FC236}">
                <a16:creationId xmlns:a16="http://schemas.microsoft.com/office/drawing/2014/main" id="{A1961B7F-FC58-AD78-937D-478103AE27DC}"/>
              </a:ext>
            </a:extLst>
          </p:cNvPr>
          <p:cNvSpPr/>
          <p:nvPr/>
        </p:nvSpPr>
        <p:spPr>
          <a:xfrm>
            <a:off x="3200400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75,8%</a:t>
            </a:r>
            <a:endParaRPr lang="en-US" sz="2200" dirty="0"/>
          </a:p>
        </p:txBody>
      </p:sp>
      <p:sp>
        <p:nvSpPr>
          <p:cNvPr id="110" name="Text 42">
            <a:extLst>
              <a:ext uri="{FF2B5EF4-FFF2-40B4-BE49-F238E27FC236}">
                <a16:creationId xmlns:a16="http://schemas.microsoft.com/office/drawing/2014/main" id="{FEB04B4E-8461-D9EA-2D97-FDC11D81E3FC}"/>
              </a:ext>
            </a:extLst>
          </p:cNvPr>
          <p:cNvSpPr/>
          <p:nvPr/>
        </p:nvSpPr>
        <p:spPr>
          <a:xfrm>
            <a:off x="5943600" y="5212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~220%</a:t>
            </a:r>
            <a:endParaRPr lang="en-US" sz="2200" dirty="0"/>
          </a:p>
        </p:txBody>
      </p:sp>
      <p:sp>
        <p:nvSpPr>
          <p:cNvPr id="111" name="Text 43">
            <a:extLst>
              <a:ext uri="{FF2B5EF4-FFF2-40B4-BE49-F238E27FC236}">
                <a16:creationId xmlns:a16="http://schemas.microsoft.com/office/drawing/2014/main" id="{CF476AF1-877E-AE03-8771-D6AD4EB3444C}"/>
              </a:ext>
            </a:extLst>
          </p:cNvPr>
          <p:cNvSpPr/>
          <p:nvPr/>
        </p:nvSpPr>
        <p:spPr>
          <a:xfrm>
            <a:off x="8686800" y="52760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Newmont  450%</a:t>
            </a:r>
            <a:endParaRPr lang="en-US" sz="1300" dirty="0"/>
          </a:p>
        </p:txBody>
      </p:sp>
      <p:sp>
        <p:nvSpPr>
          <p:cNvPr id="112" name="Shape 44">
            <a:extLst>
              <a:ext uri="{FF2B5EF4-FFF2-40B4-BE49-F238E27FC236}">
                <a16:creationId xmlns:a16="http://schemas.microsoft.com/office/drawing/2014/main" id="{12E3D52B-8EC6-775D-7674-117476E13798}"/>
              </a:ext>
            </a:extLst>
          </p:cNvPr>
          <p:cNvSpPr/>
          <p:nvPr/>
        </p:nvSpPr>
        <p:spPr>
          <a:xfrm>
            <a:off x="3154680" y="5925312"/>
            <a:ext cx="5303520" cy="201168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13" name="Shape 45">
            <a:extLst>
              <a:ext uri="{FF2B5EF4-FFF2-40B4-BE49-F238E27FC236}">
                <a16:creationId xmlns:a16="http://schemas.microsoft.com/office/drawing/2014/main" id="{F040AE22-D2C7-AF5E-77D2-5F9B3DADC4F6}"/>
              </a:ext>
            </a:extLst>
          </p:cNvPr>
          <p:cNvSpPr/>
          <p:nvPr/>
        </p:nvSpPr>
        <p:spPr>
          <a:xfrm>
            <a:off x="3154680" y="5925312"/>
            <a:ext cx="893348" cy="201168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8526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Инвестиции в технологии</a:t>
            </a:r>
            <a:endParaRPr lang="en-US" sz="46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 цифровизацию</a:t>
            </a:r>
            <a:endParaRPr lang="en-US" sz="46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Уровень цифровизации в России · Сравнение с мировыми лидерами · 2025 г.</a:t>
            </a: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03  ·  3.1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402336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Цифровизация горнодобывающей отрасли России (2025</a:t>
            </a:r>
            <a:r>
              <a:rPr lang="ru-RU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3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2026 гг.)</a:t>
            </a:r>
            <a:endParaRPr lang="en-US" sz="2300" dirty="0">
              <a:latin typeface="Century" panose="020406040505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47472" y="1143000"/>
            <a:ext cx="3749040" cy="3246120"/>
          </a:xfrm>
          <a:prstGeom prst="rect">
            <a:avLst/>
          </a:prstGeom>
          <a:solidFill>
            <a:srgbClr val="031630"/>
          </a:solidFill>
          <a:ln w="12700">
            <a:solidFill>
              <a:srgbClr val="0316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43000"/>
            <a:ext cx="374904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43000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98448"/>
            <a:ext cx="3419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7400" dirty="0"/>
          </a:p>
        </p:txBody>
      </p:sp>
      <p:sp>
        <p:nvSpPr>
          <p:cNvPr id="10" name="Text 8"/>
          <p:cNvSpPr/>
          <p:nvPr/>
        </p:nvSpPr>
        <p:spPr>
          <a:xfrm>
            <a:off x="512064" y="2834640"/>
            <a:ext cx="3419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Фрагментарное или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тестовое внедрение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технологий</a:t>
            </a:r>
            <a:endParaRPr lang="en-US" sz="16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79392" y="1143000"/>
            <a:ext cx="3749040" cy="3246120"/>
          </a:xfrm>
          <a:prstGeom prst="rect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9392" y="1143000"/>
            <a:ext cx="374904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143000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1298448"/>
            <a:ext cx="3419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740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3419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Тратят менее 2%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выручки на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цифровизацию</a:t>
            </a:r>
            <a:endParaRPr lang="en-US" sz="16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11312" y="1143000"/>
            <a:ext cx="3749040" cy="3246120"/>
          </a:xfrm>
          <a:prstGeom prst="rect">
            <a:avLst/>
          </a:prstGeom>
          <a:solidFill>
            <a:srgbClr val="220800"/>
          </a:solidFill>
          <a:ln w="12700">
            <a:solidFill>
              <a:srgbClr val="2208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1143000"/>
            <a:ext cx="374904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21440" y="1143000"/>
            <a:ext cx="502920" cy="5029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298448"/>
            <a:ext cx="3419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74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34198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Планируют снизить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расходы на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технологии в 2026 г.</a:t>
            </a:r>
            <a:endParaRPr lang="en-US" sz="16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" y="4535424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Планы компаний по бюджету на цифровизацию в 2026 г.:</a:t>
            </a:r>
            <a:endParaRPr lang="en-US" dirty="0">
              <a:latin typeface="+mj-lt"/>
            </a:endParaRPr>
          </a:p>
        </p:txBody>
      </p:sp>
      <p:graphicFrame>
        <p:nvGraphicFramePr>
          <p:cNvPr id="22" name="Chart 0"/>
          <p:cNvGraphicFramePr/>
          <p:nvPr/>
        </p:nvGraphicFramePr>
        <p:xfrm>
          <a:off x="347472" y="4800600"/>
          <a:ext cx="114757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347472" y="6473952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Kept и ГК «Цифра», апрель 2026 г.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03  ·  3.2  ТЕХНОЛОГИИ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0,1%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Доля инвестиций в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технологии у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Разрыв с Vale (12,7%)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×127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3936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Увеличение </a:t>
            </a:r>
            <a:r>
              <a:rPr lang="en-US" sz="1400" dirty="0" err="1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до</a:t>
            </a: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 1-2%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от выручки ускорит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рост кратно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Инвестиции в технологии, % от выручки (2025 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72968" y="804672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Топ-10 горнодобывающих компаний мира</a:t>
            </a:r>
            <a:endParaRPr lang="en-US" sz="14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Годовые отчёты компаний 2025 г. PwC Mine 2026.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3172968" y="1170432"/>
          <a:ext cx="8732520" cy="5166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Динамика мировых цен</a:t>
            </a:r>
            <a:endParaRPr lang="en-US" sz="4600" dirty="0">
              <a:latin typeface="Century" panose="02040604050505020304" pitchFamily="18" charset="0"/>
            </a:endParaRPr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на ключевые сырьевые товары</a:t>
            </a:r>
            <a:endParaRPr lang="en-US" sz="46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Уран · Золото · 2015</a:t>
            </a:r>
            <a:r>
              <a:rPr lang="ru-RU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-</a:t>
            </a: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2025 гг.</a:t>
            </a: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09728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04  ·  4.1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47472" y="6588252"/>
            <a:ext cx="1161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UxC LLC / FRED (уран). World Gold Council, Gold Demand Trends Full Year 2025 (золото).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8210108-07BA-2E5B-8212-BD272D0B6F85}"/>
              </a:ext>
            </a:extLst>
          </p:cNvPr>
          <p:cNvSpPr/>
          <p:nvPr/>
        </p:nvSpPr>
        <p:spPr>
          <a:xfrm>
            <a:off x="347472" y="40233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Индекс цен на уран и золото (2015–2025 гг.)</a:t>
            </a:r>
            <a:endParaRPr lang="en-US" sz="2400" dirty="0">
              <a:latin typeface="Century" panose="02040604050505020304" pitchFamily="18" charset="0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91ADCC9-20A3-534C-E982-8C4FFB24C5BA}"/>
              </a:ext>
            </a:extLst>
          </p:cNvPr>
          <p:cNvSpPr/>
          <p:nvPr/>
        </p:nvSpPr>
        <p:spPr>
          <a:xfrm>
            <a:off x="347472" y="932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2015 = 100 · Уран: $/фунт U₃O₈ · Золото: $/тр. унция</a:t>
            </a:r>
            <a:endParaRPr lang="en-US" sz="1400" dirty="0">
              <a:latin typeface="+mj-lt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DDC95C1-886B-91B1-4D5A-C4C29ACAA715}"/>
              </a:ext>
            </a:extLst>
          </p:cNvPr>
          <p:cNvSpPr/>
          <p:nvPr/>
        </p:nvSpPr>
        <p:spPr>
          <a:xfrm>
            <a:off x="9217152" y="603504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 → $58,8 / фунт U₃O₈</a:t>
            </a:r>
            <a:endParaRPr lang="en-US" sz="10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02100265-026E-4269-9DE1-9C03A5FA42D4}"/>
              </a:ext>
            </a:extLst>
          </p:cNvPr>
          <p:cNvSpPr/>
          <p:nvPr/>
        </p:nvSpPr>
        <p:spPr>
          <a:xfrm>
            <a:off x="9217152" y="1463040"/>
            <a:ext cx="438912" cy="502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DAB741E-8341-AE1F-6C1F-5D14DADC0FD7}"/>
              </a:ext>
            </a:extLst>
          </p:cNvPr>
          <p:cNvSpPr/>
          <p:nvPr/>
        </p:nvSpPr>
        <p:spPr>
          <a:xfrm>
            <a:off x="9729216" y="13075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+196%  золото к 2015 г.</a:t>
            </a:r>
            <a:endParaRPr lang="en-US" sz="15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3DCC5C67-BEC5-B60F-6E6B-AB110B27052D}"/>
              </a:ext>
            </a:extLst>
          </p:cNvPr>
          <p:cNvSpPr/>
          <p:nvPr/>
        </p:nvSpPr>
        <p:spPr>
          <a:xfrm>
            <a:off x="9217152" y="1719072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$1 160 → $3 431 / тр. унция</a:t>
            </a:r>
            <a:endParaRPr lang="en-US" sz="10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2DC0E1A3-A3AE-5050-6CB1-A9DC13B46AC8}"/>
              </a:ext>
            </a:extLst>
          </p:cNvPr>
          <p:cNvSpPr/>
          <p:nvPr/>
        </p:nvSpPr>
        <p:spPr>
          <a:xfrm>
            <a:off x="9217152" y="2633472"/>
            <a:ext cx="438912" cy="50292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FA158584-E8FE-96B4-34B4-BF5972C3D4E4}"/>
              </a:ext>
            </a:extLst>
          </p:cNvPr>
          <p:cNvSpPr/>
          <p:nvPr/>
        </p:nvSpPr>
        <p:spPr>
          <a:xfrm>
            <a:off x="9729216" y="24871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+128% к 2015 г.</a:t>
            </a:r>
            <a:endParaRPr lang="en-US" sz="135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3C5FDEAB-154C-F0D6-8D03-4C8260C59A10}"/>
              </a:ext>
            </a:extLst>
          </p:cNvPr>
          <p:cNvSpPr/>
          <p:nvPr/>
        </p:nvSpPr>
        <p:spPr>
          <a:xfrm>
            <a:off x="9217152" y="2843784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(уран + золото, равные веса)</a:t>
            </a:r>
            <a:endParaRPr lang="en-US" sz="950" dirty="0"/>
          </a:p>
        </p:txBody>
      </p:sp>
      <p:graphicFrame>
        <p:nvGraphicFramePr>
          <p:cNvPr id="29" name="Chart 0">
            <a:extLst>
              <a:ext uri="{FF2B5EF4-FFF2-40B4-BE49-F238E27FC236}">
                <a16:creationId xmlns:a16="http://schemas.microsoft.com/office/drawing/2014/main" id="{61602230-F5C9-BFB2-55AF-CCAD9AEAD4D9}"/>
              </a:ext>
            </a:extLst>
          </p:cNvPr>
          <p:cNvGraphicFramePr/>
          <p:nvPr/>
        </p:nvGraphicFramePr>
        <p:xfrm>
          <a:off x="347472" y="1261872"/>
          <a:ext cx="8613648" cy="4919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17">
            <a:extLst>
              <a:ext uri="{FF2B5EF4-FFF2-40B4-BE49-F238E27FC236}">
                <a16:creationId xmlns:a16="http://schemas.microsoft.com/office/drawing/2014/main" id="{D96DE47B-5F84-85FD-B78B-4061DF54C3D7}"/>
              </a:ext>
            </a:extLst>
          </p:cNvPr>
          <p:cNvSpPr/>
          <p:nvPr/>
        </p:nvSpPr>
        <p:spPr>
          <a:xfrm>
            <a:off x="347472" y="6455664"/>
            <a:ext cx="329184" cy="9144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F0EB3C31-32E4-BD97-86BC-5D793EDD5195}"/>
              </a:ext>
            </a:extLst>
          </p:cNvPr>
          <p:cNvSpPr/>
          <p:nvPr/>
        </p:nvSpPr>
        <p:spPr>
          <a:xfrm>
            <a:off x="749808" y="6400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Уран ($/фунт U₃O₈)</a:t>
            </a:r>
            <a:endParaRPr lang="en-US" sz="9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72DEFD32-111A-B987-E7C6-5E2699DB7D9C}"/>
              </a:ext>
            </a:extLst>
          </p:cNvPr>
          <p:cNvSpPr/>
          <p:nvPr/>
        </p:nvSpPr>
        <p:spPr>
          <a:xfrm>
            <a:off x="3182112" y="6455664"/>
            <a:ext cx="329184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CC8F667F-BD8C-ACCE-101E-CF975B601A2C}"/>
              </a:ext>
            </a:extLst>
          </p:cNvPr>
          <p:cNvSpPr/>
          <p:nvPr/>
        </p:nvSpPr>
        <p:spPr>
          <a:xfrm>
            <a:off x="3584448" y="6400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($/тр. унция)</a:t>
            </a:r>
            <a:endParaRPr lang="en-US" sz="900" dirty="0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CF09B661-6D60-EAB5-51E0-B447AC28A43D}"/>
              </a:ext>
            </a:extLst>
          </p:cNvPr>
          <p:cNvSpPr/>
          <p:nvPr/>
        </p:nvSpPr>
        <p:spPr>
          <a:xfrm>
            <a:off x="6016752" y="6455664"/>
            <a:ext cx="329184" cy="9144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FFEC86A8-4714-58FD-5124-DF3BF22DA01E}"/>
              </a:ext>
            </a:extLst>
          </p:cNvPr>
          <p:cNvSpPr/>
          <p:nvPr/>
        </p:nvSpPr>
        <p:spPr>
          <a:xfrm>
            <a:off x="6419088" y="64008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A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(уран + золото)</a:t>
            </a:r>
            <a:endParaRPr lang="en-US" sz="9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3CAEF409-9863-4BA5-1A96-583AA083D18F}"/>
              </a:ext>
            </a:extLst>
          </p:cNvPr>
          <p:cNvSpPr/>
          <p:nvPr/>
        </p:nvSpPr>
        <p:spPr>
          <a:xfrm>
            <a:off x="9217152" y="347472"/>
            <a:ext cx="438912" cy="50292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B72B66C1-B47F-4D41-91B9-21033EF10515}"/>
              </a:ext>
            </a:extLst>
          </p:cNvPr>
          <p:cNvSpPr/>
          <p:nvPr/>
        </p:nvSpPr>
        <p:spPr>
          <a:xfrm>
            <a:off x="9729216" y="20116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  уран к 2015 г.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60827" y="0"/>
            <a:ext cx="10973" cy="6858000"/>
          </a:xfrm>
          <a:prstGeom prst="rect">
            <a:avLst/>
          </a:prstGeom>
          <a:solidFill>
            <a:srgbClr val="0D1E3A"/>
          </a:solidFill>
          <a:ln w="12700">
            <a:solidFill>
              <a:srgbClr val="0D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72968" y="0"/>
            <a:ext cx="8988552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283464"/>
            <a:ext cx="82296" cy="822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37744"/>
            <a:ext cx="2532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04  ·  4.2  ВЫРУЧКА VS РЫНОК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" y="749808"/>
            <a:ext cx="2734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×3,75</a:t>
            </a:r>
            <a:endParaRPr lang="en-US" sz="5400" dirty="0">
              <a:latin typeface="Century" panose="020406040505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64592" y="2029968"/>
            <a:ext cx="2715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Рост выручки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с 2015 г. (в руб.)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64592" y="3566160"/>
            <a:ext cx="2642616" cy="0"/>
          </a:xfrm>
          <a:prstGeom prst="line">
            <a:avLst/>
          </a:prstGeom>
          <a:noFill/>
          <a:ln w="19050">
            <a:solidFill>
              <a:srgbClr val="E87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3075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Сводный индекс сырья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4592" y="4041648"/>
            <a:ext cx="27157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+128%</a:t>
            </a:r>
            <a:endParaRPr lang="en-US" sz="4400" dirty="0">
              <a:latin typeface="Century" panose="020406040505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7744" y="466344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502920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3936" y="539496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5760720"/>
            <a:ext cx="56693" cy="56693"/>
          </a:xfrm>
          <a:prstGeom prst="ellipse">
            <a:avLst/>
          </a:prstGeom>
          <a:solidFill>
            <a:srgbClr val="0D2346"/>
          </a:solidFill>
          <a:ln w="12700">
            <a:solidFill>
              <a:srgbClr val="0D23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5989320"/>
            <a:ext cx="2715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21,4 → 80,2 млрд руб.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Опережает индекс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на 171 п.п.</a:t>
            </a:r>
            <a:endParaRPr lang="en-US" sz="14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172968" y="109728"/>
            <a:ext cx="8732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Выручка Росатом Недра vs Индекс сырьевых цен (2015–2025 гг.)</a:t>
            </a:r>
            <a:endParaRPr lang="en-US" sz="2000" dirty="0">
              <a:latin typeface="Century" panose="020406040505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72968" y="6473952"/>
            <a:ext cx="8787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Выручка: отчётность АО «Росатом Недра» 2015–2025. Индекс: UxC LLC, WGC. Частично отражает ослабление рубля.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850" dirty="0">
                <a:solidFill>
                  <a:srgbClr val="4E6880"/>
                </a:solidFill>
                <a:latin typeface="Arial" pitchFamily="34" charset="0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D2F30AE-211F-2274-D4B7-504117D43CB0}"/>
              </a:ext>
            </a:extLst>
          </p:cNvPr>
          <p:cNvSpPr/>
          <p:nvPr/>
        </p:nvSpPr>
        <p:spPr>
          <a:xfrm>
            <a:off x="3172968" y="77724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2015 = 100 · Выручка в рублях · Индекс: уран + золото (равные веса)</a:t>
            </a:r>
            <a:endParaRPr lang="en-US" sz="1400" dirty="0">
              <a:latin typeface="+mj-lt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A920B94-A3A1-2F88-8B5A-ED7D30DFFCDB}"/>
              </a:ext>
            </a:extLst>
          </p:cNvPr>
          <p:cNvSpPr/>
          <p:nvPr/>
        </p:nvSpPr>
        <p:spPr>
          <a:xfrm>
            <a:off x="3172968" y="1078992"/>
            <a:ext cx="4274820" cy="329184"/>
          </a:xfrm>
          <a:prstGeom prst="rect">
            <a:avLst/>
          </a:prstGeom>
          <a:solidFill>
            <a:srgbClr val="01200E"/>
          </a:solidFill>
          <a:ln w="12700">
            <a:solidFill>
              <a:srgbClr val="01200E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44682AC-C478-654D-EDF1-E41FCF210F75}"/>
              </a:ext>
            </a:extLst>
          </p:cNvPr>
          <p:cNvSpPr/>
          <p:nvPr/>
        </p:nvSpPr>
        <p:spPr>
          <a:xfrm>
            <a:off x="3172968" y="1078992"/>
            <a:ext cx="329184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993143F-C990-0781-7376-B3FCEF803228}"/>
              </a:ext>
            </a:extLst>
          </p:cNvPr>
          <p:cNvSpPr/>
          <p:nvPr/>
        </p:nvSpPr>
        <p:spPr>
          <a:xfrm>
            <a:off x="3575304" y="1115568"/>
            <a:ext cx="3835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АО «Росатом Недра» (2015=100)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3EF479C-78D6-8DAF-BD5A-992FD5EC5E10}"/>
              </a:ext>
            </a:extLst>
          </p:cNvPr>
          <p:cNvSpPr/>
          <p:nvPr/>
        </p:nvSpPr>
        <p:spPr>
          <a:xfrm>
            <a:off x="7584948" y="1078992"/>
            <a:ext cx="4320540" cy="329184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A2A98AB-0584-CAE4-9CFA-2BEFB5FD2AC7}"/>
              </a:ext>
            </a:extLst>
          </p:cNvPr>
          <p:cNvSpPr/>
          <p:nvPr/>
        </p:nvSpPr>
        <p:spPr>
          <a:xfrm>
            <a:off x="7584948" y="1078992"/>
            <a:ext cx="329184" cy="329184"/>
          </a:xfrm>
          <a:prstGeom prst="rect">
            <a:avLst/>
          </a:prstGeom>
          <a:solidFill>
            <a:srgbClr val="4E6880"/>
          </a:solidFill>
          <a:ln w="12700">
            <a:solidFill>
              <a:srgbClr val="4E6880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C63ABCF-18D1-7BAC-0550-AA9E37F50601}"/>
              </a:ext>
            </a:extLst>
          </p:cNvPr>
          <p:cNvSpPr/>
          <p:nvPr/>
        </p:nvSpPr>
        <p:spPr>
          <a:xfrm>
            <a:off x="7987284" y="1115568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Сводный индекс цен (уран + золото)</a:t>
            </a:r>
            <a:endParaRPr lang="en-US" sz="1000" dirty="0"/>
          </a:p>
        </p:txBody>
      </p:sp>
      <p:graphicFrame>
        <p:nvGraphicFramePr>
          <p:cNvPr id="37" name="Chart 0">
            <a:extLst>
              <a:ext uri="{FF2B5EF4-FFF2-40B4-BE49-F238E27FC236}">
                <a16:creationId xmlns:a16="http://schemas.microsoft.com/office/drawing/2014/main" id="{153B66FA-C39C-6131-365C-1B47D2F72D96}"/>
              </a:ext>
            </a:extLst>
          </p:cNvPr>
          <p:cNvGraphicFramePr/>
          <p:nvPr/>
        </p:nvGraphicFramePr>
        <p:xfrm>
          <a:off x="3172968" y="1463040"/>
          <a:ext cx="87325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560320"/>
            <a:ext cx="10972800" cy="1097280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1554480"/>
            <a:ext cx="8961120" cy="896112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548640"/>
            <a:ext cx="6949440" cy="6949440"/>
          </a:xfrm>
          <a:prstGeom prst="ellipse">
            <a:avLst/>
          </a:prstGeom>
          <a:solidFill>
            <a:srgbClr val="02091E"/>
          </a:solidFill>
          <a:ln w="12700">
            <a:solidFill>
              <a:srgbClr val="0209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57200"/>
            <a:ext cx="4937760" cy="493776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28600"/>
            <a:ext cx="5394960" cy="539496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-548640"/>
            <a:ext cx="8229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0" b="1" dirty="0">
                <a:solidFill>
                  <a:srgbClr val="030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54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</a:t>
            </a:r>
            <a:r>
              <a:rPr lang="en-US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выручки</a:t>
            </a:r>
            <a:r>
              <a:rPr lang="ru-RU" sz="46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: зависимость от инвестиций в технологии</a:t>
            </a:r>
            <a:endParaRPr lang="en-US" sz="4600" dirty="0">
              <a:latin typeface="Century" panose="020406040505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4846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CAGR = 2,0% (базовый) + 0,5% × (% инвестиций в технологии) · 2025</a:t>
            </a:r>
            <a:r>
              <a:rPr lang="ru-RU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-</a:t>
            </a:r>
            <a:r>
              <a:rPr lang="en-US" dirty="0">
                <a:solidFill>
                  <a:srgbClr val="8AAFD0"/>
                </a:solidFill>
                <a:latin typeface="+mj-lt"/>
                <a:ea typeface="Arial" pitchFamily="34" charset="-122"/>
                <a:cs typeface="Arial" pitchFamily="34" charset="-120"/>
              </a:rPr>
              <a:t>2035 гг.</a:t>
            </a:r>
            <a:endParaRPr lang="en-US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"/>
            <a:ext cx="12161520" cy="1097280"/>
          </a:xfrm>
          <a:prstGeom prst="rect">
            <a:avLst/>
          </a:prstGeom>
          <a:solidFill>
            <a:srgbClr val="010D1F"/>
          </a:solidFill>
          <a:ln w="12700">
            <a:solidFill>
              <a:srgbClr val="010D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18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05  ·  5.1  ПРОГНОЗ 2035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4297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Прогноз </a:t>
            </a:r>
            <a:r>
              <a:rPr lang="en-US" sz="21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выручки</a:t>
            </a:r>
            <a:r>
              <a:rPr lang="en-US" sz="21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2025</a:t>
            </a:r>
            <a:r>
              <a:rPr lang="ru-RU" sz="21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1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2035 гг.  ·  Линейная динамика по CAGR</a:t>
            </a:r>
            <a:endParaRPr lang="en-US" sz="2100" dirty="0">
              <a:latin typeface="Century" panose="020406040505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052560" y="109728"/>
            <a:ext cx="2907792" cy="4754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0" y="109728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Росатом Недра: CAGR 2,1% → $1,2 млрд к 2035 г</a:t>
            </a: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052560" y="640080"/>
            <a:ext cx="2907792" cy="475488"/>
          </a:xfrm>
          <a:prstGeom prst="rect">
            <a:avLst/>
          </a:prstGeom>
          <a:solidFill>
            <a:srgbClr val="5C1200"/>
          </a:solidFill>
          <a:ln w="12700">
            <a:solidFill>
              <a:srgbClr val="5C1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0" y="64008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Vale: CAGR 8,4% → $85,6 млрд к 2035 г</a:t>
            </a: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347F33-B7FC-3FCE-B13D-1A70D1F98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00" y="1226974"/>
            <a:ext cx="10498719" cy="52652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47E04-48D1-55CE-F3E1-2FA2F61D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9ED6521-4B75-20F0-CAA6-8AD5F0839945}"/>
              </a:ext>
            </a:extLst>
          </p:cNvPr>
          <p:cNvSpPr/>
          <p:nvPr/>
        </p:nvSpPr>
        <p:spPr>
          <a:xfrm>
            <a:off x="10068762" y="3919962"/>
            <a:ext cx="5486400" cy="5486400"/>
          </a:xfrm>
          <a:prstGeom prst="ellipse">
            <a:avLst/>
          </a:prstGeom>
          <a:solidFill>
            <a:srgbClr val="000818"/>
          </a:solidFill>
          <a:ln w="12700">
            <a:solidFill>
              <a:srgbClr val="000818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A0622C-BB17-F121-51B4-EFD9524684F6}"/>
              </a:ext>
            </a:extLst>
          </p:cNvPr>
          <p:cNvSpPr/>
          <p:nvPr/>
        </p:nvSpPr>
        <p:spPr>
          <a:xfrm>
            <a:off x="10122408" y="4443984"/>
            <a:ext cx="4754880" cy="4754880"/>
          </a:xfrm>
          <a:prstGeom prst="ellipse">
            <a:avLst/>
          </a:prstGeom>
          <a:solidFill>
            <a:srgbClr val="000818"/>
          </a:solidFill>
          <a:ln w="19050">
            <a:solidFill>
              <a:srgbClr val="E8702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F2EFF4-6F5F-1650-7850-4890F7F4FCE4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2F2FBE4-57FD-F427-57A7-66C6128C9018}"/>
              </a:ext>
            </a:extLst>
          </p:cNvPr>
          <p:cNvSpPr/>
          <p:nvPr/>
        </p:nvSpPr>
        <p:spPr>
          <a:xfrm>
            <a:off x="0" y="0"/>
            <a:ext cx="12161520" cy="43891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48492E3-D225-9C29-CC67-5E1AC3BB91E8}"/>
              </a:ext>
            </a:extLst>
          </p:cNvPr>
          <p:cNvSpPr/>
          <p:nvPr/>
        </p:nvSpPr>
        <p:spPr>
          <a:xfrm>
            <a:off x="11649456" y="649224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ru-RU" sz="8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53D6A047-B664-6BEA-6C59-6BB4898A7000}"/>
              </a:ext>
            </a:extLst>
          </p:cNvPr>
          <p:cNvSpPr/>
          <p:nvPr/>
        </p:nvSpPr>
        <p:spPr>
          <a:xfrm>
            <a:off x="365760" y="1005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E8702A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КЛЮЧЕВЫЕ ВЫВОДЫ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8994089-3DEE-4462-B822-9F2BB9C4F9C9}"/>
              </a:ext>
            </a:extLst>
          </p:cNvPr>
          <p:cNvSpPr/>
          <p:nvPr/>
        </p:nvSpPr>
        <p:spPr>
          <a:xfrm>
            <a:off x="347472" y="694944"/>
            <a:ext cx="11466576" cy="13716"/>
          </a:xfrm>
          <a:prstGeom prst="rect">
            <a:avLst/>
          </a:prstGeom>
          <a:solidFill>
            <a:srgbClr val="4E6880"/>
          </a:solidFill>
          <a:ln w="12700">
            <a:solidFill>
              <a:srgbClr val="4E6880"/>
            </a:solidFill>
            <a:prstDash val="solid"/>
          </a:ln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7E604E1-AB64-9809-CCC4-FEA99D65E1E7}"/>
              </a:ext>
            </a:extLst>
          </p:cNvPr>
          <p:cNvSpPr/>
          <p:nvPr/>
        </p:nvSpPr>
        <p:spPr>
          <a:xfrm>
            <a:off x="347472" y="868680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F5F68D0-5E5D-6471-5F5A-3A5654074672}"/>
              </a:ext>
            </a:extLst>
          </p:cNvPr>
          <p:cNvSpPr/>
          <p:nvPr/>
        </p:nvSpPr>
        <p:spPr>
          <a:xfrm>
            <a:off x="512064" y="84124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698A78C-15C0-9ECF-B5C2-FFECD3274956}"/>
              </a:ext>
            </a:extLst>
          </p:cNvPr>
          <p:cNvSpPr/>
          <p:nvPr/>
        </p:nvSpPr>
        <p:spPr>
          <a:xfrm>
            <a:off x="1207008" y="85039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Россия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ведущая горнодобывающая держава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7B61127-FEFD-F323-2D4F-A99209504D74}"/>
              </a:ext>
            </a:extLst>
          </p:cNvPr>
          <p:cNvSpPr/>
          <p:nvPr/>
        </p:nvSpPr>
        <p:spPr>
          <a:xfrm>
            <a:off x="1207008" y="123444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5-е место в мире · 1 239,8 млн т добычи (2024 г.)</a:t>
            </a:r>
            <a:endParaRPr lang="en-US" sz="1200" dirty="0">
              <a:latin typeface="+mj-lt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D8F9E8C-F184-1776-AF84-3A9EFEBB3CE8}"/>
              </a:ext>
            </a:extLst>
          </p:cNvPr>
          <p:cNvSpPr/>
          <p:nvPr/>
        </p:nvSpPr>
        <p:spPr>
          <a:xfrm>
            <a:off x="347472" y="1719072"/>
            <a:ext cx="5230368" cy="10973"/>
          </a:xfrm>
          <a:prstGeom prst="rect">
            <a:avLst/>
          </a:prstGeom>
          <a:solidFill>
            <a:srgbClr val="0E1E34"/>
          </a:solidFill>
          <a:ln w="12700">
            <a:solidFill>
              <a:srgbClr val="0E1E34"/>
            </a:solidFill>
            <a:prstDash val="solid"/>
          </a:ln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F1A0548-5E3E-A259-194E-F998406B1380}"/>
              </a:ext>
            </a:extLst>
          </p:cNvPr>
          <p:cNvSpPr/>
          <p:nvPr/>
        </p:nvSpPr>
        <p:spPr>
          <a:xfrm>
            <a:off x="347472" y="1828800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5389E8E-D00D-6087-340B-B5F4B2EEA5BF}"/>
              </a:ext>
            </a:extLst>
          </p:cNvPr>
          <p:cNvSpPr/>
          <p:nvPr/>
        </p:nvSpPr>
        <p:spPr>
          <a:xfrm>
            <a:off x="512064" y="180136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08DD6BD-479F-9363-0C36-238265D75A4B}"/>
              </a:ext>
            </a:extLst>
          </p:cNvPr>
          <p:cNvSpPr/>
          <p:nvPr/>
        </p:nvSpPr>
        <p:spPr>
          <a:xfrm>
            <a:off x="1207008" y="181051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Росатом </a:t>
            </a: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Недра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быстрый рост выручки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C8E18BA-7179-4C1A-9C1A-1BEC73FDE36D}"/>
              </a:ext>
            </a:extLst>
          </p:cNvPr>
          <p:cNvSpPr/>
          <p:nvPr/>
        </p:nvSpPr>
        <p:spPr>
          <a:xfrm>
            <a:off x="1207008" y="219456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×3,75 за период наблюдения · 21,4 → 80,2 млрд руб. · EBITDA 21 млрд</a:t>
            </a:r>
            <a:endParaRPr lang="en-US" sz="1200" dirty="0">
              <a:latin typeface="+mj-lt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BE1C1B8D-15D3-CD1A-6F21-2EE1FF1A2D78}"/>
              </a:ext>
            </a:extLst>
          </p:cNvPr>
          <p:cNvSpPr/>
          <p:nvPr/>
        </p:nvSpPr>
        <p:spPr>
          <a:xfrm>
            <a:off x="347472" y="2679192"/>
            <a:ext cx="5230368" cy="10973"/>
          </a:xfrm>
          <a:prstGeom prst="rect">
            <a:avLst/>
          </a:prstGeom>
          <a:solidFill>
            <a:srgbClr val="0E1E34"/>
          </a:solidFill>
          <a:ln w="12700">
            <a:solidFill>
              <a:srgbClr val="0E1E34"/>
            </a:solidFill>
            <a:prstDash val="solid"/>
          </a:ln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B80E3AE1-0AB1-2E43-9ECB-0BD4C92DA99A}"/>
              </a:ext>
            </a:extLst>
          </p:cNvPr>
          <p:cNvSpPr/>
          <p:nvPr/>
        </p:nvSpPr>
        <p:spPr>
          <a:xfrm>
            <a:off x="347472" y="2788920"/>
            <a:ext cx="54864" cy="777240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CBD8737-2E0A-4005-D8A6-85BE3174F47F}"/>
              </a:ext>
            </a:extLst>
          </p:cNvPr>
          <p:cNvSpPr/>
          <p:nvPr/>
        </p:nvSpPr>
        <p:spPr>
          <a:xfrm>
            <a:off x="512064" y="276148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6E601E4-3A93-E766-4907-CCC11E4A181F}"/>
              </a:ext>
            </a:extLst>
          </p:cNvPr>
          <p:cNvSpPr/>
          <p:nvPr/>
        </p:nvSpPr>
        <p:spPr>
          <a:xfrm>
            <a:off x="1207008" y="277063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Ценовая конъюнктура благоприятна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ADF0AE6-7BDE-6644-393E-A733E2FCCE24}"/>
              </a:ext>
            </a:extLst>
          </p:cNvPr>
          <p:cNvSpPr/>
          <p:nvPr/>
        </p:nvSpPr>
        <p:spPr>
          <a:xfrm>
            <a:off x="1207008" y="315468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Уран +61%, Золото +196% к 2015 г. · спрос на стратсырьё растёт</a:t>
            </a:r>
            <a:endParaRPr lang="en-US" sz="1200" dirty="0">
              <a:latin typeface="+mj-lt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13968B09-8777-783E-D9A6-76CB0F414FA6}"/>
              </a:ext>
            </a:extLst>
          </p:cNvPr>
          <p:cNvSpPr/>
          <p:nvPr/>
        </p:nvSpPr>
        <p:spPr>
          <a:xfrm>
            <a:off x="347472" y="3639312"/>
            <a:ext cx="5230368" cy="10973"/>
          </a:xfrm>
          <a:prstGeom prst="rect">
            <a:avLst/>
          </a:prstGeom>
          <a:solidFill>
            <a:srgbClr val="0E1E34"/>
          </a:solidFill>
          <a:ln w="12700">
            <a:solidFill>
              <a:srgbClr val="0E1E34"/>
            </a:solidFill>
            <a:prstDash val="solid"/>
          </a:ln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B0F16D47-16D3-774F-8C0B-EA8C6A2E8ABA}"/>
              </a:ext>
            </a:extLst>
          </p:cNvPr>
          <p:cNvSpPr/>
          <p:nvPr/>
        </p:nvSpPr>
        <p:spPr>
          <a:xfrm>
            <a:off x="347472" y="3694176"/>
            <a:ext cx="5230368" cy="905256"/>
          </a:xfrm>
          <a:prstGeom prst="rect">
            <a:avLst/>
          </a:prstGeom>
          <a:solidFill>
            <a:srgbClr val="100008"/>
          </a:solidFill>
          <a:ln w="12700">
            <a:solidFill>
              <a:srgbClr val="100008"/>
            </a:solidFill>
            <a:prstDash val="solid"/>
          </a:ln>
        </p:spPr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BEB627FE-9A94-9108-2CB3-8E23B89C9610}"/>
              </a:ext>
            </a:extLst>
          </p:cNvPr>
          <p:cNvSpPr/>
          <p:nvPr/>
        </p:nvSpPr>
        <p:spPr>
          <a:xfrm>
            <a:off x="347472" y="3749040"/>
            <a:ext cx="54864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8FF068D-655A-12C2-7315-774968CAF8D0}"/>
              </a:ext>
            </a:extLst>
          </p:cNvPr>
          <p:cNvSpPr/>
          <p:nvPr/>
        </p:nvSpPr>
        <p:spPr>
          <a:xfrm>
            <a:off x="512064" y="372160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1095045-A9F5-5CC5-49C9-270281A73758}"/>
              </a:ext>
            </a:extLst>
          </p:cNvPr>
          <p:cNvSpPr/>
          <p:nvPr/>
        </p:nvSpPr>
        <p:spPr>
          <a:xfrm>
            <a:off x="1207008" y="373075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Технологическое </a:t>
            </a:r>
            <a:r>
              <a:rPr lang="en-US" sz="1400" b="1" dirty="0" err="1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отставание</a:t>
            </a:r>
            <a:r>
              <a:rPr lang="en-US" sz="14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критический риск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ADD4AF8B-ECE4-AA5D-F524-04F8E60133EE}"/>
              </a:ext>
            </a:extLst>
          </p:cNvPr>
          <p:cNvSpPr/>
          <p:nvPr/>
        </p:nvSpPr>
        <p:spPr>
          <a:xfrm>
            <a:off x="1207008" y="411480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AA6666"/>
                </a:solidFill>
                <a:latin typeface="+mj-lt"/>
                <a:ea typeface="Arial" pitchFamily="34" charset="-122"/>
                <a:cs typeface="Arial" pitchFamily="34" charset="-120"/>
              </a:rPr>
              <a:t>R&amp;D: 0,1% выручки vs 12,7% у Vale · разрыв ×127 · растёт каждый год</a:t>
            </a:r>
            <a:endParaRPr lang="en-US" sz="1200" dirty="0">
              <a:latin typeface="+mj-lt"/>
            </a:endParaRPr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4787CABC-D928-C930-9FF6-09F24C0961F3}"/>
              </a:ext>
            </a:extLst>
          </p:cNvPr>
          <p:cNvSpPr/>
          <p:nvPr/>
        </p:nvSpPr>
        <p:spPr>
          <a:xfrm>
            <a:off x="347472" y="4599432"/>
            <a:ext cx="5230368" cy="10973"/>
          </a:xfrm>
          <a:prstGeom prst="rect">
            <a:avLst/>
          </a:prstGeom>
          <a:solidFill>
            <a:srgbClr val="0E1E34"/>
          </a:solidFill>
          <a:ln w="12700">
            <a:solidFill>
              <a:srgbClr val="0E1E34"/>
            </a:solidFill>
            <a:prstDash val="solid"/>
          </a:ln>
        </p:spPr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92FB83E9-085A-1AF4-1141-79ACC0515E22}"/>
              </a:ext>
            </a:extLst>
          </p:cNvPr>
          <p:cNvSpPr/>
          <p:nvPr/>
        </p:nvSpPr>
        <p:spPr>
          <a:xfrm>
            <a:off x="347472" y="4709160"/>
            <a:ext cx="54864" cy="77724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F0B887B1-C2D1-D1FD-2CD3-25C26466722F}"/>
              </a:ext>
            </a:extLst>
          </p:cNvPr>
          <p:cNvSpPr/>
          <p:nvPr/>
        </p:nvSpPr>
        <p:spPr>
          <a:xfrm>
            <a:off x="512064" y="4681728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8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73" name="Text 28">
            <a:extLst>
              <a:ext uri="{FF2B5EF4-FFF2-40B4-BE49-F238E27FC236}">
                <a16:creationId xmlns:a16="http://schemas.microsoft.com/office/drawing/2014/main" id="{C2A5FC3F-477C-73EE-8CB8-5763D11F3C30}"/>
              </a:ext>
            </a:extLst>
          </p:cNvPr>
          <p:cNvSpPr/>
          <p:nvPr/>
        </p:nvSpPr>
        <p:spPr>
          <a:xfrm>
            <a:off x="1207008" y="469087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Н</a:t>
            </a: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еобходимо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нвестировать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400" b="1" dirty="0" err="1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технологии</a:t>
            </a:r>
            <a:r>
              <a:rPr lang="en-US" sz="1400" b="1" dirty="0">
                <a:solidFill>
                  <a:srgbClr val="FFFFFF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>
              <a:latin typeface="Century" panose="02040604050505020304" pitchFamily="18" charset="0"/>
            </a:endParaRPr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AE5E0029-4213-30BE-359D-611BAB2CD9B3}"/>
              </a:ext>
            </a:extLst>
          </p:cNvPr>
          <p:cNvSpPr/>
          <p:nvPr/>
        </p:nvSpPr>
        <p:spPr>
          <a:xfrm>
            <a:off x="1207008" y="5074920"/>
            <a:ext cx="4315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Увеличить R&amp;D </a:t>
            </a:r>
            <a:r>
              <a:rPr lang="en-US" sz="1200" dirty="0" err="1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до</a:t>
            </a: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 3</a:t>
            </a:r>
            <a:r>
              <a:rPr lang="ru-RU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5% · цифровизация · технологические партнёрства</a:t>
            </a:r>
            <a:endParaRPr lang="en-US" sz="1200" dirty="0">
              <a:latin typeface="+mj-lt"/>
            </a:endParaRPr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EBC11347-5322-52C1-60F9-ECCBC8534288}"/>
              </a:ext>
            </a:extLst>
          </p:cNvPr>
          <p:cNvSpPr/>
          <p:nvPr/>
        </p:nvSpPr>
        <p:spPr>
          <a:xfrm>
            <a:off x="6053328" y="777240"/>
            <a:ext cx="5742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R&amp;D КАК % ОТ ВЫРУЧКИ (20</a:t>
            </a:r>
            <a:r>
              <a:rPr lang="ru-RU" sz="1400" b="1" kern="0" spc="150" dirty="0">
                <a:solidFill>
                  <a:srgbClr val="4E688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25)</a:t>
            </a:r>
            <a:endParaRPr lang="en-US" sz="900" dirty="0"/>
          </a:p>
        </p:txBody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A2CF6926-7ACA-4B64-C903-EBE5BC5FABAC}"/>
              </a:ext>
            </a:extLst>
          </p:cNvPr>
          <p:cNvSpPr/>
          <p:nvPr/>
        </p:nvSpPr>
        <p:spPr>
          <a:xfrm>
            <a:off x="6053328" y="126187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(Бразилия)</a:t>
            </a:r>
            <a:endParaRPr lang="en-US" sz="950" dirty="0"/>
          </a:p>
        </p:txBody>
      </p:sp>
      <p:sp>
        <p:nvSpPr>
          <p:cNvPr id="80" name="Shape 33">
            <a:extLst>
              <a:ext uri="{FF2B5EF4-FFF2-40B4-BE49-F238E27FC236}">
                <a16:creationId xmlns:a16="http://schemas.microsoft.com/office/drawing/2014/main" id="{089D3703-6413-8564-D143-ED2FF60AAF4A}"/>
              </a:ext>
            </a:extLst>
          </p:cNvPr>
          <p:cNvSpPr/>
          <p:nvPr/>
        </p:nvSpPr>
        <p:spPr>
          <a:xfrm>
            <a:off x="8522208" y="1325880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81" name="Shape 34">
            <a:extLst>
              <a:ext uri="{FF2B5EF4-FFF2-40B4-BE49-F238E27FC236}">
                <a16:creationId xmlns:a16="http://schemas.microsoft.com/office/drawing/2014/main" id="{18A387E7-0F2F-5DC2-A29A-38B0A659CA64}"/>
              </a:ext>
            </a:extLst>
          </p:cNvPr>
          <p:cNvSpPr/>
          <p:nvPr/>
        </p:nvSpPr>
        <p:spPr>
          <a:xfrm>
            <a:off x="8522208" y="1325880"/>
            <a:ext cx="32004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978C0202-052E-4B3C-0608-1AB4B77F3023}"/>
              </a:ext>
            </a:extLst>
          </p:cNvPr>
          <p:cNvSpPr/>
          <p:nvPr/>
        </p:nvSpPr>
        <p:spPr>
          <a:xfrm>
            <a:off x="6053328" y="182880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Agnico Eagle (Канада)</a:t>
            </a:r>
            <a:endParaRPr lang="en-US" sz="950" dirty="0"/>
          </a:p>
        </p:txBody>
      </p:sp>
      <p:sp>
        <p:nvSpPr>
          <p:cNvPr id="83" name="Shape 37">
            <a:extLst>
              <a:ext uri="{FF2B5EF4-FFF2-40B4-BE49-F238E27FC236}">
                <a16:creationId xmlns:a16="http://schemas.microsoft.com/office/drawing/2014/main" id="{99C70C93-A36C-D29B-B2BC-86408E63BE86}"/>
              </a:ext>
            </a:extLst>
          </p:cNvPr>
          <p:cNvSpPr/>
          <p:nvPr/>
        </p:nvSpPr>
        <p:spPr>
          <a:xfrm>
            <a:off x="8522208" y="1892808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84" name="Shape 38">
            <a:extLst>
              <a:ext uri="{FF2B5EF4-FFF2-40B4-BE49-F238E27FC236}">
                <a16:creationId xmlns:a16="http://schemas.microsoft.com/office/drawing/2014/main" id="{23D7C432-8FEB-81D3-77DD-5A43B8527645}"/>
              </a:ext>
            </a:extLst>
          </p:cNvPr>
          <p:cNvSpPr/>
          <p:nvPr/>
        </p:nvSpPr>
        <p:spPr>
          <a:xfrm>
            <a:off x="8522208" y="1892808"/>
            <a:ext cx="2142000" cy="219456"/>
          </a:xfrm>
          <a:prstGeom prst="rect">
            <a:avLst/>
          </a:prstGeom>
          <a:solidFill>
            <a:srgbClr val="D4820E"/>
          </a:solidFill>
          <a:ln w="12700">
            <a:solidFill>
              <a:srgbClr val="D4820E"/>
            </a:solidFill>
            <a:prstDash val="solid"/>
          </a:ln>
        </p:spPr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0CA6995E-1F74-86F3-A76F-6DDDD0D414AA}"/>
              </a:ext>
            </a:extLst>
          </p:cNvPr>
          <p:cNvSpPr/>
          <p:nvPr/>
        </p:nvSpPr>
        <p:spPr>
          <a:xfrm>
            <a:off x="10755648" y="18288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050" dirty="0"/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45298296-420B-CB74-AC1B-637477F32E03}"/>
              </a:ext>
            </a:extLst>
          </p:cNvPr>
          <p:cNvSpPr/>
          <p:nvPr/>
        </p:nvSpPr>
        <p:spPr>
          <a:xfrm>
            <a:off x="6053328" y="239572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Newmont (США)</a:t>
            </a:r>
            <a:endParaRPr lang="en-US" sz="950" dirty="0"/>
          </a:p>
        </p:txBody>
      </p:sp>
      <p:sp>
        <p:nvSpPr>
          <p:cNvPr id="87" name="Shape 41">
            <a:extLst>
              <a:ext uri="{FF2B5EF4-FFF2-40B4-BE49-F238E27FC236}">
                <a16:creationId xmlns:a16="http://schemas.microsoft.com/office/drawing/2014/main" id="{647167AC-412F-E2D7-A3BD-C99A008CFC70}"/>
              </a:ext>
            </a:extLst>
          </p:cNvPr>
          <p:cNvSpPr/>
          <p:nvPr/>
        </p:nvSpPr>
        <p:spPr>
          <a:xfrm>
            <a:off x="8522208" y="2459736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88" name="Shape 42">
            <a:extLst>
              <a:ext uri="{FF2B5EF4-FFF2-40B4-BE49-F238E27FC236}">
                <a16:creationId xmlns:a16="http://schemas.microsoft.com/office/drawing/2014/main" id="{D28E0F55-5DC0-F747-A3DF-E76A725177BF}"/>
              </a:ext>
            </a:extLst>
          </p:cNvPr>
          <p:cNvSpPr/>
          <p:nvPr/>
        </p:nvSpPr>
        <p:spPr>
          <a:xfrm>
            <a:off x="8522208" y="2459736"/>
            <a:ext cx="403200" cy="219456"/>
          </a:xfrm>
          <a:prstGeom prst="rect">
            <a:avLst/>
          </a:prstGeom>
          <a:solidFill>
            <a:srgbClr val="1A6DD4"/>
          </a:solidFill>
          <a:ln w="12700">
            <a:solidFill>
              <a:srgbClr val="1A6DD4"/>
            </a:solidFill>
            <a:prstDash val="solid"/>
          </a:ln>
        </p:spPr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76B8CD9B-0451-9CF1-5905-15D18E07E1DF}"/>
              </a:ext>
            </a:extLst>
          </p:cNvPr>
          <p:cNvSpPr/>
          <p:nvPr/>
        </p:nvSpPr>
        <p:spPr>
          <a:xfrm>
            <a:off x="9016848" y="23957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6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050" dirty="0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867B3C10-ED4D-2BA4-77F5-2B59B750BB16}"/>
              </a:ext>
            </a:extLst>
          </p:cNvPr>
          <p:cNvSpPr/>
          <p:nvPr/>
        </p:nvSpPr>
        <p:spPr>
          <a:xfrm>
            <a:off x="6053328" y="29626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 India (Индия)</a:t>
            </a:r>
            <a:endParaRPr lang="en-US" sz="950" dirty="0"/>
          </a:p>
        </p:txBody>
      </p:sp>
      <p:sp>
        <p:nvSpPr>
          <p:cNvPr id="91" name="Shape 45">
            <a:extLst>
              <a:ext uri="{FF2B5EF4-FFF2-40B4-BE49-F238E27FC236}">
                <a16:creationId xmlns:a16="http://schemas.microsoft.com/office/drawing/2014/main" id="{0297AF69-3645-75B1-6C20-FBEA573A7005}"/>
              </a:ext>
            </a:extLst>
          </p:cNvPr>
          <p:cNvSpPr/>
          <p:nvPr/>
        </p:nvSpPr>
        <p:spPr>
          <a:xfrm>
            <a:off x="8522208" y="3026664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92" name="Shape 46">
            <a:extLst>
              <a:ext uri="{FF2B5EF4-FFF2-40B4-BE49-F238E27FC236}">
                <a16:creationId xmlns:a16="http://schemas.microsoft.com/office/drawing/2014/main" id="{94B4C029-501B-BEFB-D005-E67157184260}"/>
              </a:ext>
            </a:extLst>
          </p:cNvPr>
          <p:cNvSpPr/>
          <p:nvPr/>
        </p:nvSpPr>
        <p:spPr>
          <a:xfrm>
            <a:off x="8522208" y="3026664"/>
            <a:ext cx="252000" cy="219456"/>
          </a:xfrm>
          <a:prstGeom prst="rect">
            <a:avLst/>
          </a:prstGeom>
          <a:solidFill>
            <a:srgbClr val="506070"/>
          </a:solidFill>
          <a:ln w="12700">
            <a:solidFill>
              <a:srgbClr val="506070"/>
            </a:solidFill>
            <a:prstDash val="solid"/>
          </a:ln>
        </p:spPr>
      </p:sp>
      <p:sp>
        <p:nvSpPr>
          <p:cNvPr id="93" name="Text 47">
            <a:extLst>
              <a:ext uri="{FF2B5EF4-FFF2-40B4-BE49-F238E27FC236}">
                <a16:creationId xmlns:a16="http://schemas.microsoft.com/office/drawing/2014/main" id="{915999D6-19B8-3E35-7793-DDE7070DD60A}"/>
              </a:ext>
            </a:extLst>
          </p:cNvPr>
          <p:cNvSpPr/>
          <p:nvPr/>
        </p:nvSpPr>
        <p:spPr>
          <a:xfrm>
            <a:off x="8865648" y="29626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050" dirty="0"/>
          </a:p>
        </p:txBody>
      </p:sp>
      <p:sp>
        <p:nvSpPr>
          <p:cNvPr id="94" name="Text 48">
            <a:extLst>
              <a:ext uri="{FF2B5EF4-FFF2-40B4-BE49-F238E27FC236}">
                <a16:creationId xmlns:a16="http://schemas.microsoft.com/office/drawing/2014/main" id="{00D43AB5-69FC-62B9-5DFB-B984E8EF7C24}"/>
              </a:ext>
            </a:extLst>
          </p:cNvPr>
          <p:cNvSpPr/>
          <p:nvPr/>
        </p:nvSpPr>
        <p:spPr>
          <a:xfrm>
            <a:off x="6053328" y="35295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E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BHP (Австралия)</a:t>
            </a:r>
            <a:endParaRPr lang="en-US" sz="950" dirty="0"/>
          </a:p>
        </p:txBody>
      </p:sp>
      <p:sp>
        <p:nvSpPr>
          <p:cNvPr id="95" name="Shape 49">
            <a:extLst>
              <a:ext uri="{FF2B5EF4-FFF2-40B4-BE49-F238E27FC236}">
                <a16:creationId xmlns:a16="http://schemas.microsoft.com/office/drawing/2014/main" id="{1D69E6D5-FC6F-ED1E-1DBE-FD1B0E937D61}"/>
              </a:ext>
            </a:extLst>
          </p:cNvPr>
          <p:cNvSpPr/>
          <p:nvPr/>
        </p:nvSpPr>
        <p:spPr>
          <a:xfrm>
            <a:off x="8522208" y="3593592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96" name="Shape 50">
            <a:extLst>
              <a:ext uri="{FF2B5EF4-FFF2-40B4-BE49-F238E27FC236}">
                <a16:creationId xmlns:a16="http://schemas.microsoft.com/office/drawing/2014/main" id="{D08EC058-A3AB-1936-D32B-1D7B9D6E5B27}"/>
              </a:ext>
            </a:extLst>
          </p:cNvPr>
          <p:cNvSpPr/>
          <p:nvPr/>
        </p:nvSpPr>
        <p:spPr>
          <a:xfrm>
            <a:off x="8522208" y="3593592"/>
            <a:ext cx="176400" cy="219456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97" name="Text 51">
            <a:extLst>
              <a:ext uri="{FF2B5EF4-FFF2-40B4-BE49-F238E27FC236}">
                <a16:creationId xmlns:a16="http://schemas.microsoft.com/office/drawing/2014/main" id="{589D79AA-7D38-D431-4AFE-419E52D58AF2}"/>
              </a:ext>
            </a:extLst>
          </p:cNvPr>
          <p:cNvSpPr/>
          <p:nvPr/>
        </p:nvSpPr>
        <p:spPr>
          <a:xfrm>
            <a:off x="8790048" y="352958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050" dirty="0"/>
          </a:p>
        </p:txBody>
      </p:sp>
      <p:sp>
        <p:nvSpPr>
          <p:cNvPr id="98" name="Text 52">
            <a:extLst>
              <a:ext uri="{FF2B5EF4-FFF2-40B4-BE49-F238E27FC236}">
                <a16:creationId xmlns:a16="http://schemas.microsoft.com/office/drawing/2014/main" id="{6E0DB7FF-35CB-C062-7131-D30C65878C23}"/>
              </a:ext>
            </a:extLst>
          </p:cNvPr>
          <p:cNvSpPr/>
          <p:nvPr/>
        </p:nvSpPr>
        <p:spPr>
          <a:xfrm>
            <a:off x="6053328" y="409651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«Росатом Недра»</a:t>
            </a:r>
            <a:endParaRPr lang="en-US" sz="1050" dirty="0"/>
          </a:p>
        </p:txBody>
      </p:sp>
      <p:sp>
        <p:nvSpPr>
          <p:cNvPr id="99" name="Shape 53">
            <a:extLst>
              <a:ext uri="{FF2B5EF4-FFF2-40B4-BE49-F238E27FC236}">
                <a16:creationId xmlns:a16="http://schemas.microsoft.com/office/drawing/2014/main" id="{AC9D1C5F-41FD-7F4A-E4AF-58D4C082D41A}"/>
              </a:ext>
            </a:extLst>
          </p:cNvPr>
          <p:cNvSpPr/>
          <p:nvPr/>
        </p:nvSpPr>
        <p:spPr>
          <a:xfrm>
            <a:off x="8522208" y="4160520"/>
            <a:ext cx="3200400" cy="219456"/>
          </a:xfrm>
          <a:prstGeom prst="rect">
            <a:avLst/>
          </a:prstGeom>
          <a:solidFill>
            <a:srgbClr val="060010"/>
          </a:solidFill>
          <a:ln w="12700">
            <a:solidFill>
              <a:srgbClr val="060010"/>
            </a:solidFill>
            <a:prstDash val="solid"/>
          </a:ln>
        </p:spPr>
      </p:sp>
      <p:sp>
        <p:nvSpPr>
          <p:cNvPr id="100" name="Shape 54">
            <a:extLst>
              <a:ext uri="{FF2B5EF4-FFF2-40B4-BE49-F238E27FC236}">
                <a16:creationId xmlns:a16="http://schemas.microsoft.com/office/drawing/2014/main" id="{EECFE8DE-89F2-AD3F-58E6-2B00F48AF706}"/>
              </a:ext>
            </a:extLst>
          </p:cNvPr>
          <p:cNvSpPr/>
          <p:nvPr/>
        </p:nvSpPr>
        <p:spPr>
          <a:xfrm>
            <a:off x="8522208" y="4160520"/>
            <a:ext cx="25200" cy="21945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1" name="Text 55">
            <a:extLst>
              <a:ext uri="{FF2B5EF4-FFF2-40B4-BE49-F238E27FC236}">
                <a16:creationId xmlns:a16="http://schemas.microsoft.com/office/drawing/2014/main" id="{FBCC9E58-6331-D33E-6939-904C5E23B120}"/>
              </a:ext>
            </a:extLst>
          </p:cNvPr>
          <p:cNvSpPr/>
          <p:nvPr/>
        </p:nvSpPr>
        <p:spPr>
          <a:xfrm>
            <a:off x="8638848" y="40965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200" dirty="0"/>
          </a:p>
        </p:txBody>
      </p:sp>
      <p:sp>
        <p:nvSpPr>
          <p:cNvPr id="103" name="Shape 57">
            <a:extLst>
              <a:ext uri="{FF2B5EF4-FFF2-40B4-BE49-F238E27FC236}">
                <a16:creationId xmlns:a16="http://schemas.microsoft.com/office/drawing/2014/main" id="{80BE3025-1F95-1D9E-33D9-BFDCA316CCAB}"/>
              </a:ext>
            </a:extLst>
          </p:cNvPr>
          <p:cNvSpPr/>
          <p:nvPr/>
        </p:nvSpPr>
        <p:spPr>
          <a:xfrm>
            <a:off x="6053328" y="4553712"/>
            <a:ext cx="54864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4" name="Text 58">
            <a:extLst>
              <a:ext uri="{FF2B5EF4-FFF2-40B4-BE49-F238E27FC236}">
                <a16:creationId xmlns:a16="http://schemas.microsoft.com/office/drawing/2014/main" id="{2E90C21B-F337-556B-18DF-0E335A334CCF}"/>
              </a:ext>
            </a:extLst>
          </p:cNvPr>
          <p:cNvSpPr/>
          <p:nvPr/>
        </p:nvSpPr>
        <p:spPr>
          <a:xfrm>
            <a:off x="6217920" y="4608576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×127</a:t>
            </a:r>
            <a:r>
              <a:rPr lang="ru-RU" sz="12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b="1" dirty="0">
                <a:solidFill>
                  <a:srgbClr val="FF9090"/>
                </a:solidFill>
                <a:latin typeface="Century" panose="02040604050505020304" pitchFamily="18" charset="0"/>
                <a:ea typeface="Arial" pitchFamily="34" charset="-122"/>
                <a:cs typeface="Arial" pitchFamily="34" charset="-120"/>
              </a:rPr>
              <a:t> разрыв в R&amp;D между Vale и АО «Росатом Недра»</a:t>
            </a:r>
            <a:endParaRPr lang="en-US" sz="1200" dirty="0">
              <a:latin typeface="Century" panose="02040604050505020304" pitchFamily="18" charset="0"/>
            </a:endParaRPr>
          </a:p>
        </p:txBody>
      </p:sp>
      <p:sp>
        <p:nvSpPr>
          <p:cNvPr id="105" name="Text 59">
            <a:extLst>
              <a:ext uri="{FF2B5EF4-FFF2-40B4-BE49-F238E27FC236}">
                <a16:creationId xmlns:a16="http://schemas.microsoft.com/office/drawing/2014/main" id="{F58B6613-604D-EFDB-5F3D-EF0D4C8A7F83}"/>
              </a:ext>
            </a:extLst>
          </p:cNvPr>
          <p:cNvSpPr/>
          <p:nvPr/>
        </p:nvSpPr>
        <p:spPr>
          <a:xfrm>
            <a:off x="6217920" y="4901184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6880"/>
                </a:solidFill>
                <a:latin typeface="+mj-lt"/>
                <a:ea typeface="Arial" pitchFamily="34" charset="-122"/>
                <a:cs typeface="Arial" pitchFamily="34" charset="-120"/>
              </a:rPr>
              <a:t>При сохранении текущей динамики разрыв станет непреодолимым к 2035 году.</a:t>
            </a:r>
            <a:endParaRPr lang="en-US" sz="1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345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1605</Words>
  <Application>Microsoft Office PowerPoint</Application>
  <PresentationFormat>Широкоэкранный</PresentationFormat>
  <Paragraphs>329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Century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 nik</cp:lastModifiedBy>
  <cp:revision>13</cp:revision>
  <dcterms:created xsi:type="dcterms:W3CDTF">2026-07-22T12:30:53Z</dcterms:created>
  <dcterms:modified xsi:type="dcterms:W3CDTF">2026-09-13T16:29:17Z</dcterms:modified>
</cp:coreProperties>
</file>