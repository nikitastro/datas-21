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7" r:id="rId11"/>
    <p:sldId id="278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12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8D7C-1EB4-4EE6-8B15-1404D1CA49F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9E3E0-DECC-4377-A268-726E15608B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66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54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66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0"/>
            <a:ext cx="11887200" cy="11887200"/>
          </a:xfrm>
          <a:prstGeom prst="ellipse">
            <a:avLst/>
          </a:prstGeom>
          <a:solidFill>
            <a:srgbClr val="020812"/>
          </a:solidFill>
          <a:ln w="12700">
            <a:solidFill>
              <a:srgbClr val="0208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737360"/>
            <a:ext cx="9875520" cy="98755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548640"/>
            <a:ext cx="7498080" cy="7498080"/>
          </a:xfrm>
          <a:prstGeom prst="ellipse">
            <a:avLst/>
          </a:prstGeom>
          <a:solidFill>
            <a:srgbClr val="020812"/>
          </a:solidFill>
          <a:ln w="12700">
            <a:solidFill>
              <a:srgbClr val="0208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640080"/>
            <a:ext cx="5120640" cy="512064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74320"/>
            <a:ext cx="5760720" cy="5760720"/>
          </a:xfrm>
          <a:prstGeom prst="ellipse">
            <a:avLst/>
          </a:prstGeom>
          <a:solidFill>
            <a:srgbClr val="000818"/>
          </a:solidFill>
          <a:ln w="25400">
            <a:solidFill>
              <a:srgbClr val="E870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5212080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5852160"/>
            <a:ext cx="256032" cy="256032"/>
          </a:xfrm>
          <a:prstGeom prst="ellipse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687568"/>
            <a:ext cx="4572000" cy="1170432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300" normalizeH="0" baseline="0" noProof="0" dirty="0">
                <a:ln>
                  <a:noFill/>
                </a:ln>
                <a:solidFill>
                  <a:srgbClr val="E870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АО «РОСАТОМ НЕДРА»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960120"/>
            <a:ext cx="9144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 и АО «Росатом Недра»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 контексте мировой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горнодобывающей отрасли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4434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AFD0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Анализ производства · Финансы · Технологии · Прогноз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5029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70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2025 г.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168" y="579729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BGS · PwC Mine 2026 · Годовые отчёты компаний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Отчётность АО «Росатом Недра»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E68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01 · ЗАДАЧА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Ценность задачи: увидеть положение компании в отраслевом контексте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56616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292" cy="141732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655063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РЫНОЧНЫЙ КОНТЕКСТ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74D7"/>
                </a:solidFill>
                <a:latin typeface="Century"/>
              </a:rPr>
              <a:t>5-е место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468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Россия — в мировом рейтинге добычи полезных ископаемых; 1 239,8 млн т в 2024 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508760"/>
            <a:ext cx="356616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508760"/>
            <a:ext cx="50292" cy="14173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655063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ДИНАМИКА КОМПАНИИ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9202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×3,75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468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Рост выручки АО «Росатом Недра» за 2015–2025 гг.: 21,4 → 80,2 млрд руб.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1508760"/>
            <a:ext cx="356616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1508760"/>
            <a:ext cx="50292" cy="141732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55063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ТЕХНОЛОГИЧЕСКИЙ ВЫЗОВ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9202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0,1%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68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Доля инвестиций в технологии у АО «Росатом Недра» в сравнении с мировыми лидерами.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rial"/>
              </a:rPr>
              <a:t>Зачем нужен проект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22191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22191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Свести разрозненные отраслевые и корпоративные данные в единую картину.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622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Сопоставить Россию и АО «Росатом Недра» с международными бенчмарками.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0235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0235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Определить факторы роста и технологические разрывы, значимые для дальнейшего развития.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401568"/>
            <a:ext cx="5212080" cy="2423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7020"/>
                </a:solidFill>
                <a:latin typeface="Arial"/>
              </a:rPr>
              <a:t>Ценность для принятия решений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251960"/>
            <a:ext cx="4343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rial"/>
              </a:rPr>
              <a:t>Переход от набора отдельных показателей к сопоставимой аналитической базе: производство → финансы → технологии → рынок → прогноз.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 показателей: аналитический проект и исходная презентация проекта.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01 · ЗАДАЧА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Постановка задачи: что необходимо было сделать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7020"/>
                </a:solidFill>
                <a:latin typeface="Centur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173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rial"/>
              </a:rPr>
              <a:t>Собрать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17320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BGS по мировой добыче; годовые отчёты компаний; PwC Mine; ценовые ряды; внутренняя отчётность.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2039112"/>
            <a:ext cx="10287000" cy="10972"/>
          </a:xfrm>
          <a:prstGeom prst="rect">
            <a:avLst/>
          </a:prstGeom>
          <a:solidFill>
            <a:srgbClr val="193452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7020"/>
                </a:solidFill>
                <a:latin typeface="Centur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rial"/>
              </a:rPr>
              <a:t>Нормализовать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50008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Привести единицы измерения и финансовые показатели к сопоставимому виду.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2971800"/>
            <a:ext cx="10287000" cy="10972"/>
          </a:xfrm>
          <a:prstGeom prst="rect">
            <a:avLst/>
          </a:prstGeom>
          <a:solidFill>
            <a:srgbClr val="193452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7020"/>
                </a:solidFill>
                <a:latin typeface="Centur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2826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rial"/>
              </a:rPr>
              <a:t>Сравнить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82696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Позиции России, финансовые метрики компаний и уровень инвестиций в технологии.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3904487"/>
            <a:ext cx="10287000" cy="10972"/>
          </a:xfrm>
          <a:prstGeom prst="rect">
            <a:avLst/>
          </a:prstGeom>
          <a:solidFill>
            <a:srgbClr val="193452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2153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7020"/>
                </a:solidFill>
                <a:latin typeface="Centur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153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rial"/>
              </a:rPr>
              <a:t>Проверить динамику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215384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Сопоставить изменение цен на ключевое сырьё с динамикой выручки АО «Росатом Недра».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4837176"/>
            <a:ext cx="10287000" cy="10972"/>
          </a:xfrm>
          <a:prstGeom prst="rect">
            <a:avLst/>
          </a:prstGeom>
          <a:solidFill>
            <a:srgbClr val="193452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7020"/>
                </a:solidFill>
                <a:latin typeface="Century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148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rial"/>
              </a:rPr>
              <a:t>Построить модели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148072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Добавить прогнозный и ML-контур как инструмент сценарного анализа и проверки гипотез.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ML-блок используется как дополнительный исследовательский контур; интерпретация кластеров требует содержательной проверки.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02 · МЕТОДОЛОГИЯ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Как были получены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Единый аналитический пайплайн от исходных данных до выводов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874519" cy="22402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689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27020"/>
                </a:solidFill>
                <a:latin typeface="Centur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BGS
Годовые отчёты
PwC / ценовые ряды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74D7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965960"/>
            <a:ext cx="1874519" cy="22402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8" y="2121408"/>
            <a:ext cx="618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27020"/>
                </a:solidFill>
                <a:latin typeface="Centur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606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Подготовка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1272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Очистка
Единицы
Агрегация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74D7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965960"/>
            <a:ext cx="1874519" cy="22402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121408"/>
            <a:ext cx="497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27020"/>
                </a:solidFill>
                <a:latin typeface="Centur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06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EDA / бенчмарк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1272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Рейтинги
Маржа / CAPEX
Тех-инвестиции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74D7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965960"/>
            <a:ext cx="1874519" cy="22402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2121408"/>
            <a:ext cx="508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27020"/>
                </a:solidFill>
                <a:latin typeface="Centur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606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Модели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272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TimeSeriesSplit
Регрессия
KMeans / 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74D7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965960"/>
            <a:ext cx="1874519" cy="22402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2121408"/>
            <a:ext cx="45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27020"/>
                </a:solidFill>
                <a:latin typeface="Century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06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Выводы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1272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7591AE"/>
                </a:solidFill>
                <a:latin typeface="Arial"/>
              </a:rPr>
              <a:t>Позиция</a:t>
            </a:r>
            <a:r>
              <a:rPr sz="1000" b="0" dirty="0">
                <a:solidFill>
                  <a:srgbClr val="7591AE"/>
                </a:solidFill>
                <a:latin typeface="Arial"/>
              </a:rPr>
              <a:t>
</a:t>
            </a:r>
            <a:r>
              <a:rPr sz="1000" b="0" dirty="0" err="1">
                <a:solidFill>
                  <a:srgbClr val="7591AE"/>
                </a:solidFill>
                <a:latin typeface="Arial"/>
              </a:rPr>
              <a:t>Разрывы</a:t>
            </a:r>
            <a:r>
              <a:rPr sz="1000" b="0" dirty="0">
                <a:solidFill>
                  <a:srgbClr val="7591AE"/>
                </a:solidFill>
                <a:latin typeface="Arial"/>
              </a:rPr>
              <a:t>
</a:t>
            </a:r>
            <a:r>
              <a:rPr sz="1000" b="0" dirty="0" err="1">
                <a:solidFill>
                  <a:srgbClr val="7591AE"/>
                </a:solidFill>
                <a:latin typeface="Arial"/>
              </a:rPr>
              <a:t>Сценарии</a:t>
            </a:r>
            <a:endParaRPr sz="10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" y="4800600"/>
            <a:ext cx="3337560" cy="114300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4800600"/>
            <a:ext cx="50292" cy="114300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9469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ПРИНЦИП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21208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74D7"/>
                </a:solidFill>
                <a:latin typeface="Century"/>
              </a:rPr>
              <a:t>Сопоставимость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594875"/>
            <a:ext cx="3017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Все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показатели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приводятся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к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единой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логике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измерения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периоду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анализа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4800600"/>
            <a:ext cx="3337560" cy="114300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34840" y="4800600"/>
            <a:ext cx="50292" cy="1143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99431" y="49469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ПРИНЦИП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1" y="521208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Проверяемость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0006" y="5596128"/>
            <a:ext cx="3017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На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графиках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фиксируются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источники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расчётные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допущения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800600"/>
            <a:ext cx="3337560" cy="114300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4800600"/>
            <a:ext cx="50292" cy="114300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94192" y="49469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ПРИНЦИП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521208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Ограничения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598257"/>
            <a:ext cx="3017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Малые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выборки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сценарные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модели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трактуются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как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точный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прогноз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Россия — один из крупнейших мировых центров добычи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Мировая добыча полезных ископаемых, BGS World Mineral Production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057400" cy="13258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292" cy="132588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5636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ПОЗИЦИЯ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5-е место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03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Россия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в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мировом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рейтинге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совокупному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объёму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добычи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2057400" cy="13258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926080"/>
            <a:ext cx="50292" cy="132588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072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ОБЪЁМ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3375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74D7"/>
                </a:solidFill>
                <a:latin typeface="Century"/>
              </a:rPr>
              <a:t>1 239,8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886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млн т добычи в 2024 г.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34840"/>
            <a:ext cx="2057400" cy="13258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434840"/>
            <a:ext cx="50292" cy="13258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581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СТРАТЕГИЧЕСКОЕ СЫРЬЁ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8463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7 видов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522592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Уголь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железо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медь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золото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никель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уран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РЗМ.</a:t>
            </a:r>
          </a:p>
        </p:txBody>
      </p:sp>
      <p:pic>
        <p:nvPicPr>
          <p:cNvPr id="22" name="Picture 21" descr="to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25880"/>
            <a:ext cx="9098280" cy="5074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Источник: British Geological Survey (BGS), World Mineral Production 2024.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АО «Росатом Недра»: рост сочетается с инвестиционной фазой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Финансовые показатели 2025 г. и динамика 2015–2025 гг.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0604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" cy="14173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563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ВЫРУЧКА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$0,96 млрд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Рост в рублях ×3,75 за период 2015–2025 гг.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0604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50292" cy="141732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1563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1828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74D7"/>
                </a:solidFill>
                <a:latin typeface="Century"/>
              </a:rPr>
              <a:t>$0,25 млрд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EBITDA-маржа — 26,0%.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50292" cy="141732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1" y="1563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CAPEX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1828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$0,33 млрд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CAPEX превышает EBITDA: активная инвестиционная фаза.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417320"/>
            <a:ext cx="260604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417320"/>
            <a:ext cx="50292" cy="1417320"/>
          </a:xfrm>
          <a:prstGeom prst="rect">
            <a:avLst/>
          </a:prstGeom>
          <a:solidFill>
            <a:srgbClr val="CC3D2E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8552" y="1563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EBITDA / CAPEX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828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C3D2E"/>
                </a:solidFill>
                <a:latin typeface="Century"/>
              </a:rPr>
              <a:t>75,8%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Показатель ниже 100% отражает превышение CAPEX над EBITDA.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rial"/>
              </a:rPr>
              <a:t>Ключевая интерпретация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4048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404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Компания существенно меньше мировых лидеров по абсолютной выручке и EBITDA.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При этом наблюдается ускорение выручки в 2023–2025 гг.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206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rial"/>
              </a:rPr>
              <a:t>Высокая инвестиционная нагрузка требует оценки отдачи от капитальных и технологических вложений.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337560"/>
            <a:ext cx="5212080" cy="214884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611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7020"/>
                </a:solidFill>
                <a:latin typeface="Arial"/>
              </a:rPr>
              <a:t>Что это означает для проекта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160520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rial"/>
              </a:rPr>
              <a:t>Финансовый рост сам по себе не отвечает на вопрос о технологической конкурентоспособности. Поэтому следующий шаг анализа — сравнение уровня инвестиций в технологии.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Источники: годовые отчёты компаний 2025 г.; PwC Mine 2026; внутренняя отчётность АО «Росатом Недра».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Главный выявленный разрыв — инвестиции в технологии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Инвестиции в технологии как доля выручки, 2025 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965960" cy="123444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292" cy="123444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56362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РОСАТОМ НЕДРА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0,1%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41393"/>
            <a:ext cx="1734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Доля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инвестиций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в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технологии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80360"/>
            <a:ext cx="1965960" cy="123444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880360"/>
            <a:ext cx="50292" cy="1234440"/>
          </a:xfrm>
          <a:prstGeom prst="rect">
            <a:avLst/>
          </a:prstGeom>
          <a:solidFill>
            <a:srgbClr val="CC3D2E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02666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VALE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29184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C3D2E"/>
                </a:solidFill>
                <a:latin typeface="Century"/>
              </a:rPr>
              <a:t>12,7%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707892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Максимум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в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используемой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выборке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343400"/>
            <a:ext cx="1965960" cy="123444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343400"/>
            <a:ext cx="50292" cy="123444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48970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РАЗРЫВ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75488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×127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190159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Между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АО «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Росатом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Недра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» и Vale.</a:t>
            </a:r>
          </a:p>
        </p:txBody>
      </p:sp>
      <p:pic>
        <p:nvPicPr>
          <p:cNvPr id="22" name="Picture 21" descr="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98448"/>
            <a:ext cx="9189720" cy="5166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Источник: годовые отчёты компаний 2025 г.; PwC Mine 2026. Показатель отражает используемую в проекте методику сопоставления.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Рост выручки опережает сводный индекс сырьевых цен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2015 = 100 · Выручка в рублях · Сырьевой индекс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7591AE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96596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292" cy="12801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56362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ВЫРУЧКА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×3,75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77733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F5F7FA"/>
                </a:solidFill>
                <a:latin typeface="Arial"/>
              </a:rPr>
              <a:t>21,4 → 80,2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млрд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руб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за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2015–2025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гг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71800"/>
            <a:ext cx="196596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971800"/>
            <a:ext cx="50292" cy="128016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11810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СЫРЬЕВОЙ ИНДЕКС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38328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+128%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744468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F5F7FA"/>
                </a:solidFill>
                <a:latin typeface="Arial"/>
              </a:rPr>
              <a:t>В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исходной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презентации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: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уран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+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золото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равные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веса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26280"/>
            <a:ext cx="196596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526280"/>
            <a:ext cx="50292" cy="128016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672584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82" y="4818888"/>
            <a:ext cx="22297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 err="1">
                <a:solidFill>
                  <a:srgbClr val="2374D7"/>
                </a:solidFill>
                <a:latin typeface="Century"/>
              </a:rPr>
              <a:t>Опережение</a:t>
            </a:r>
            <a:endParaRPr sz="2500" b="1" dirty="0">
              <a:solidFill>
                <a:srgbClr val="2374D7"/>
              </a:solidFill>
              <a:latin typeface="Centur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6646" y="5282852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Рост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выручки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объясняется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только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ценовой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динамикой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pic>
        <p:nvPicPr>
          <p:cNvPr id="22" name="Picture 21" descr="revenu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325880"/>
            <a:ext cx="9144000" cy="5074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Источник: отчётность АО «Росатом Недра» 2015–2025; UxC LLC; World Gold Council. В проекте отмечено влияние ослабления рубля.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0" b="1" i="0" u="none" strike="noStrike" kern="1200" cap="none" spc="0" normalizeH="0" baseline="0" noProof="0" dirty="0">
                <a:ln>
                  <a:noFill/>
                </a:ln>
                <a:solidFill>
                  <a:srgbClr val="030D2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kumimoji="0" lang="en-US" sz="3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</a:t>
            </a: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выручки</a:t>
            </a:r>
            <a:r>
              <a:rPr kumimoji="0" lang="ru-RU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: зависимость от инвестиций в технологии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AFD0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CAGR = 2,0% (базовый) + 0,5% × (% инвестиций в технологии) · 2025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8AAFD0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AFD0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2035 гг.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09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"/>
            <a:ext cx="12161520" cy="1097280"/>
          </a:xfrm>
          <a:prstGeom prst="rect">
            <a:avLst/>
          </a:prstGeom>
          <a:solidFill>
            <a:srgbClr val="010D1F"/>
          </a:solidFill>
          <a:ln w="12700">
            <a:solidFill>
              <a:srgbClr val="010D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297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выручки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2025</a:t>
            </a:r>
            <a:r>
              <a:rPr kumimoji="0" lang="ru-RU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2035 гг.  ·  Линейная динамика по CAGR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052560" y="109728"/>
            <a:ext cx="290779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10972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Росатом Недра: CAGR 2,1% → $1,2 млрд к 2035 г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052560" y="640080"/>
            <a:ext cx="2907792" cy="475488"/>
          </a:xfrm>
          <a:prstGeom prst="rect">
            <a:avLst/>
          </a:prstGeom>
          <a:solidFill>
            <a:srgbClr val="5C1200"/>
          </a:solidFill>
          <a:ln w="12700">
            <a:solidFill>
              <a:srgbClr val="5C1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64008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Arial" pitchFamily="34" charset="-122"/>
                <a:cs typeface="Arial" pitchFamily="34" charset="-120"/>
              </a:rPr>
              <a:t>Vale: CAGR 8,4% → $85,6 млрд к 2035 г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7997FD2-9BF5-498E-B672-1B57C79C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61" y="1141171"/>
            <a:ext cx="10713469" cy="57147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DC9A5E-0813-438D-940E-6F795683C0E8}"/>
              </a:ext>
            </a:extLst>
          </p:cNvPr>
          <p:cNvSpPr txBox="1"/>
          <p:nvPr/>
        </p:nvSpPr>
        <p:spPr>
          <a:xfrm>
            <a:off x="11631168" y="6473952"/>
            <a:ext cx="3200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dirty="0">
                <a:solidFill>
                  <a:srgbClr val="7591AE"/>
                </a:solidFill>
                <a:latin typeface="Arial"/>
              </a:rPr>
              <a:t>1</a:t>
            </a:r>
            <a:r>
              <a:rPr lang="ru-RU" sz="700" b="0" dirty="0">
                <a:solidFill>
                  <a:srgbClr val="7591AE"/>
                </a:solidFill>
                <a:latin typeface="Arial"/>
              </a:rPr>
              <a:t>0</a:t>
            </a:r>
            <a:endParaRPr sz="7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1FCF3-EC76-419C-9CF1-736D567F61F8}"/>
              </a:ext>
            </a:extLst>
          </p:cNvPr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1" y="502920"/>
            <a:ext cx="114332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 err="1">
                <a:solidFill>
                  <a:srgbClr val="F5F7FA"/>
                </a:solidFill>
                <a:latin typeface="Arial"/>
              </a:rPr>
              <a:t>Кадровый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дефицит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становится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дополнительным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ограничением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роста</a:t>
            </a:r>
            <a:endParaRPr sz="25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Вакансии и средняя зарплата по периодам · кадровый блок аналитического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700" dirty="0">
                <a:solidFill>
                  <a:srgbClr val="7591AE"/>
                </a:solidFill>
                <a:latin typeface="Arial"/>
              </a:rPr>
              <a:t>11</a:t>
            </a:r>
            <a:endParaRPr sz="7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292" cy="1280160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56362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КАДРОВЫЙ КОНТУР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74D7"/>
                </a:solidFill>
                <a:latin typeface="Century"/>
              </a:rPr>
              <a:t>2 сигнала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189988"/>
            <a:ext cx="25831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Количество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вакансий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средняя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предлагаемая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зарплата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используются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совместно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274320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926080"/>
            <a:ext cx="50292" cy="128016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07238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ИНДЕКС ДЕФИЦИТА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3375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60 /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698748"/>
            <a:ext cx="2583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Вес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вакансий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— 0,6;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вес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средней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зарплаты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— 0,4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после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z-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нормализации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34840"/>
            <a:ext cx="2743200" cy="128016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434840"/>
            <a:ext cx="50292" cy="12801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58114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ПРОГНОЗ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8463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7AE60"/>
                </a:solidFill>
                <a:latin typeface="Century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5212205"/>
            <a:ext cx="25786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F5F7FA"/>
                </a:solidFill>
                <a:latin typeface="Arial"/>
              </a:rPr>
              <a:t>Экстраполяция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индекса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на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следующий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период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;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малая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выборка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требует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осторожной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Arial"/>
              </a:rPr>
              <a:t>трактовки</a:t>
            </a:r>
            <a:r>
              <a:rPr sz="1000" b="0" dirty="0">
                <a:solidFill>
                  <a:srgbClr val="F5F7FA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1417320"/>
            <a:ext cx="7909560" cy="42976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rial"/>
              </a:rPr>
              <a:t>Как построен кадровый показатель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2423160"/>
            <a:ext cx="1417320" cy="1143000"/>
          </a:xfrm>
          <a:prstGeom prst="rect">
            <a:avLst/>
          </a:prstGeom>
          <a:solidFill>
            <a:srgbClr val="030D1E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2606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74D7"/>
                </a:solidFill>
                <a:latin typeface="Arial"/>
              </a:rPr>
              <a:t>Вакансии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n_vacancies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423160"/>
            <a:ext cx="1417320" cy="1143000"/>
          </a:xfrm>
          <a:prstGeom prst="rect">
            <a:avLst/>
          </a:prstGeom>
          <a:solidFill>
            <a:srgbClr val="030D1E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87568" y="2606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7020"/>
                </a:solidFill>
                <a:latin typeface="Arial"/>
              </a:rPr>
              <a:t>Зарплата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mean_salary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423160"/>
            <a:ext cx="1417320" cy="1143000"/>
          </a:xfrm>
          <a:prstGeom prst="rect">
            <a:avLst/>
          </a:prstGeom>
          <a:solidFill>
            <a:srgbClr val="030D1E"/>
          </a:solidFill>
          <a:ln>
            <a:solidFill>
              <a:srgbClr val="759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16367" y="2606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591AE"/>
                </a:solidFill>
                <a:latin typeface="Arial"/>
              </a:rPr>
              <a:t>z-score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7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нормализация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423160"/>
            <a:ext cx="1417320" cy="1143000"/>
          </a:xfrm>
          <a:prstGeom prst="rect">
            <a:avLst/>
          </a:prstGeom>
          <a:solidFill>
            <a:srgbClr val="030D1E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45167" y="2606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Arial"/>
              </a:rPr>
              <a:t>Индекс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0,6×vac + 0,4×salary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7020"/>
                </a:solidFill>
                <a:latin typeface="Arial"/>
              </a:rPr>
              <a:t>Что поддерживают данные проекта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4622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462272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rial"/>
              </a:rPr>
              <a:t>В notebook сформирован помесячный ряд вакансий и средней зарплаты.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49194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7020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919472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rial"/>
              </a:rPr>
              <a:t>На их основе рассчитывается интегральный deficit_index и его краткосрочная экстраполяция.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321808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91AE"/>
                </a:solidFill>
                <a:latin typeface="Arial"/>
              </a:rPr>
              <a:t>Важно: текущий кадровый блок показывает индикатор давления на рынок труда, но сам по себе не доказывает причинную связь с EBITDA.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Источник: кадровый блок аналитического notebook; вакансии из vacancies_arx.csv. Методика индекса: 0,6×z(вакансии) + 0,4×z(зарплата).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42699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 err="1">
                <a:solidFill>
                  <a:srgbClr val="F5F7FA"/>
                </a:solidFill>
                <a:latin typeface="Arial"/>
              </a:rPr>
              <a:t>Кадровое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давление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усиливает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экономическую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ценность</a:t>
            </a:r>
            <a:r>
              <a:rPr sz="25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7FA"/>
                </a:solidFill>
                <a:latin typeface="Arial"/>
              </a:rPr>
              <a:t>роботизации</a:t>
            </a:r>
            <a:endParaRPr sz="25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7591AE"/>
                </a:solidFill>
                <a:latin typeface="Arial"/>
              </a:rPr>
              <a:t>Сценарная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причинно-следственная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логика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на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основе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результатов</a:t>
            </a:r>
            <a:r>
              <a:rPr sz="1100" b="0" dirty="0">
                <a:solidFill>
                  <a:srgbClr val="7591A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91AE"/>
                </a:solidFill>
                <a:latin typeface="Arial"/>
              </a:rPr>
              <a:t>проекта</a:t>
            </a:r>
            <a:endParaRPr sz="11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dirty="0">
                <a:solidFill>
                  <a:srgbClr val="7591AE"/>
                </a:solidFill>
                <a:latin typeface="Arial"/>
              </a:rPr>
              <a:t>1</a:t>
            </a:r>
            <a:r>
              <a:rPr lang="ru-RU" sz="700" b="0" dirty="0">
                <a:solidFill>
                  <a:srgbClr val="7591AE"/>
                </a:solidFill>
                <a:latin typeface="Arial"/>
              </a:rPr>
              <a:t>2</a:t>
            </a:r>
            <a:endParaRPr sz="7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874519" cy="1325880"/>
          </a:xfrm>
          <a:prstGeom prst="rect">
            <a:avLst/>
          </a:prstGeom>
          <a:solidFill>
            <a:srgbClr val="06142A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Дефицит кадров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27020"/>
                </a:solidFill>
                <a:latin typeface="Arial"/>
              </a:rPr>
              <a:t>↑ вакансии / дефицит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385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508760"/>
            <a:ext cx="1874519" cy="1325880"/>
          </a:xfrm>
          <a:prstGeom prst="rect">
            <a:avLst/>
          </a:prstGeom>
          <a:solidFill>
            <a:srgbClr val="06142A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Стоимость труда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27020"/>
                </a:solidFill>
                <a:latin typeface="Arial"/>
              </a:rPr>
              <a:t>↑ зарплатное давление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385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46904" y="1508760"/>
            <a:ext cx="1874519" cy="1325880"/>
          </a:xfrm>
          <a:prstGeom prst="rect">
            <a:avLst/>
          </a:prstGeom>
          <a:solidFill>
            <a:srgbClr val="06142A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OPEX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3D2E"/>
                </a:solidFill>
                <a:latin typeface="Arial"/>
              </a:rPr>
              <a:t>↑ затраты на персонал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9385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4616" y="1508760"/>
            <a:ext cx="1874519" cy="1325880"/>
          </a:xfrm>
          <a:prstGeom prst="rect">
            <a:avLst/>
          </a:prstGeom>
          <a:solidFill>
            <a:srgbClr val="06142A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1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EBITDA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3D2E"/>
                </a:solidFill>
                <a:latin typeface="Arial"/>
              </a:rPr>
              <a:t>давление вниз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385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2702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1508760"/>
            <a:ext cx="1874519" cy="1325880"/>
          </a:xfrm>
          <a:prstGeom prst="rect">
            <a:avLst/>
          </a:prstGeom>
          <a:solidFill>
            <a:srgbClr val="06142A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0344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EBITDA / CAPEX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3D2E"/>
                </a:solidFill>
                <a:latin typeface="Arial"/>
              </a:rPr>
              <a:t>риск ухудшения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2971800" cy="141732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3337560"/>
            <a:ext cx="50292" cy="141732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348386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591AE"/>
                </a:solidFill>
                <a:latin typeface="Arial"/>
              </a:rPr>
              <a:t>ТЕКУЩАЯ ИНВЕСТИЦИОННАЯ ФАЗА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749039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7020"/>
                </a:solidFill>
                <a:latin typeface="Century"/>
              </a:rPr>
              <a:t>75,8%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rial"/>
              </a:rPr>
              <a:t>EBITDA/CAPEX АО «Росатом Недра» в проекте; CAPEX уже превышает EBITDA.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3337560"/>
            <a:ext cx="7818120" cy="20116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6908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Arial"/>
              </a:rPr>
              <a:t>Контур компенсации риска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1605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rial"/>
              </a:rPr>
              <a:t>Роботизация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5262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меньше зависимости от дефицитных операций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3159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1605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rial"/>
              </a:rPr>
              <a:t>Производительность 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262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больше выпуска на единицу труда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3159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1605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rial"/>
              </a:rPr>
              <a:t>Давление OPEX 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5262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F7FA"/>
                </a:solidFill>
                <a:latin typeface="Arial"/>
              </a:rPr>
              <a:t>сдерживание роста трудовых затрат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715000"/>
            <a:ext cx="11109960" cy="457200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5815584"/>
            <a:ext cx="10652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30D1E"/>
                </a:solidFill>
                <a:latin typeface="Arial"/>
              </a:rPr>
              <a:t>Гипотеза для программы роботизации: инвестиции в технологии становятся инструментом не только роста, но и снижения зависимости от кадрового ограничения.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Связь «кадры → OPEX → EBITDA» представлена как сценарный риск. Текущий notebook не содержит отдельной причинной модели влияния зарплат на EBITDA.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03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Что получилось по итогу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6473952"/>
            <a:ext cx="3200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dirty="0">
                <a:solidFill>
                  <a:srgbClr val="7591AE"/>
                </a:solidFill>
                <a:latin typeface="Arial"/>
              </a:rPr>
              <a:t>1</a:t>
            </a:r>
            <a:r>
              <a:rPr lang="ru-RU" sz="700" b="0" dirty="0">
                <a:solidFill>
                  <a:srgbClr val="7591AE"/>
                </a:solidFill>
                <a:latin typeface="Arial"/>
              </a:rPr>
              <a:t>3</a:t>
            </a:r>
            <a:endParaRPr sz="7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1234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7AE60"/>
                </a:solidFill>
                <a:latin typeface="Century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252728"/>
            <a:ext cx="41148" cy="65836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Сформирована единая аналитическая база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344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Мировая добыча, финансовые показатели, технологические инвестиции и ценовая динамика сведены в сопоставимую структуру.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21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74D7"/>
                </a:solidFill>
                <a:latin typeface="Century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40280"/>
            <a:ext cx="41148" cy="658368"/>
          </a:xfrm>
          <a:prstGeom prst="rect">
            <a:avLst/>
          </a:prstGeom>
          <a:solidFill>
            <a:srgbClr val="2374D7"/>
          </a:solidFill>
          <a:ln>
            <a:solidFill>
              <a:srgbClr val="237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2219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Определена рыночная позиция России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219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Россия занимает 5-е место по совокупному объёму добычи и входит в число лидеров по ряду стратегических видов сырья.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2095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7AE60"/>
                </a:solidFill>
                <a:latin typeface="Century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27832"/>
            <a:ext cx="41148" cy="65836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20954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Зафиксирован быстрый рост АО «Росатом Недра»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0954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Выручка выросла с 21,4 до 80,2 млрд руб. за 2015–2025 гг.; компания находится в инвестиционной фазе.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1970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C3D2E"/>
                </a:solidFill>
                <a:latin typeface="Century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215383"/>
            <a:ext cx="41148" cy="658368"/>
          </a:xfrm>
          <a:prstGeom prst="rect">
            <a:avLst/>
          </a:prstGeom>
          <a:solidFill>
            <a:srgbClr val="CC3D2E"/>
          </a:solidFill>
          <a:ln>
            <a:solidFill>
              <a:srgbClr val="CC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19709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Выявлен технологический разрыв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19709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В используемой выборке доля технологических инвестиций существенно ниже ряда мировых лидеров.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1846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7020"/>
                </a:solidFill>
                <a:latin typeface="Century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202936"/>
            <a:ext cx="41148" cy="65836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5184648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rial"/>
              </a:rPr>
              <a:t>Создан расширяемый аналитический пайплайн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18464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Ноутбук позволяет обновлять расчёты, визуализации и развивать прогнозный/ML-контур.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Выводы сформированы по данным и расчётам аналитического проекта.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27020"/>
                </a:solidFill>
                <a:latin typeface="Arial"/>
              </a:rPr>
              <a:t>04 · ДАЛЬНЕЙШЕЕ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rial"/>
              </a:rPr>
              <a:t>Как развивать проект после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91AE"/>
                </a:solidFill>
                <a:latin typeface="Arial"/>
              </a:rPr>
              <a:t>Предлагаемые направления — следующий этап, а не уже полученные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473952"/>
            <a:ext cx="3200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dirty="0">
                <a:solidFill>
                  <a:srgbClr val="7591AE"/>
                </a:solidFill>
                <a:latin typeface="Arial"/>
              </a:rPr>
              <a:t>1</a:t>
            </a:r>
            <a:r>
              <a:rPr lang="ru-RU" sz="700" b="0" dirty="0">
                <a:solidFill>
                  <a:srgbClr val="7591AE"/>
                </a:solidFill>
                <a:latin typeface="Arial"/>
              </a:rPr>
              <a:t>4</a:t>
            </a:r>
            <a:endParaRPr sz="700" b="0" dirty="0">
              <a:solidFill>
                <a:srgbClr val="7591AE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429000" cy="17830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581912"/>
            <a:ext cx="4937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374D7"/>
                </a:solidFill>
                <a:latin typeface="Centur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81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Автоматизировать обновление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76272"/>
            <a:ext cx="3099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Регулярная загрузка BGS, финансовой отчётности и ценовых рядов; контроль качества данных.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417320"/>
            <a:ext cx="3429000" cy="17830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3" y="1581912"/>
            <a:ext cx="4937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27020"/>
                </a:solidFill>
                <a:latin typeface="Centur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1581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Усилить технологический бенчмаркинг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176272"/>
            <a:ext cx="3099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Разделить R&amp;D, цифровизацию, автоматизацию и роботизацию; перейти от единого % к портфелю технологических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3429000" cy="17830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581912"/>
            <a:ext cx="4937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7AE60"/>
                </a:solidFill>
                <a:latin typeface="Centur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581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Доработать прогнозный контур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76272"/>
            <a:ext cx="3099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Сценарии цен, CAPEX и технологических инвестиций; интервальные оценки вместо одной траектории.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657600"/>
            <a:ext cx="3429000" cy="17830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3822191"/>
            <a:ext cx="4937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CC3D2E"/>
                </a:solidFill>
                <a:latin typeface="Centur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3822191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Пересобрать кластеризацию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4416552"/>
            <a:ext cx="3099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Исключить решения с кластером из одной страны; добавить критерии минимального размера и бизнес-интерпретацию.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57600"/>
            <a:ext cx="3429000" cy="1783080"/>
          </a:xfrm>
          <a:prstGeom prst="rect">
            <a:avLst/>
          </a:prstGeom>
          <a:solidFill>
            <a:srgbClr val="06142A"/>
          </a:solidFill>
          <a:ln>
            <a:solidFill>
              <a:srgbClr val="19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937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27020"/>
                </a:solidFill>
                <a:latin typeface="Centur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822191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rial"/>
              </a:rPr>
              <a:t>Связать анализ с программой роботизации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16552"/>
            <a:ext cx="3099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91AE"/>
                </a:solidFill>
                <a:latin typeface="Arial"/>
              </a:rPr>
              <a:t>Добавить реестр процессов/кейсов, эффект, CAPEX/OPEX, сроки, зрелость технологии и приоритет внедрения.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06440"/>
            <a:ext cx="11155680" cy="384048"/>
          </a:xfrm>
          <a:prstGeom prst="rect">
            <a:avLst/>
          </a:prstGeom>
          <a:solidFill>
            <a:srgbClr val="F27020"/>
          </a:solidFill>
          <a:ln>
            <a:solidFill>
              <a:srgbClr val="F2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030D1E"/>
                </a:solidFill>
                <a:latin typeface="Arial"/>
              </a:rPr>
              <a:t>Цель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следующего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этапа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: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превратить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аналитический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ноутбук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в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инструмент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регулярной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поддержки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решений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по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технологической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трансформации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 и </a:t>
            </a:r>
            <a:r>
              <a:rPr sz="1100" b="1" dirty="0" err="1">
                <a:solidFill>
                  <a:srgbClr val="030D1E"/>
                </a:solidFill>
                <a:latin typeface="Arial"/>
              </a:rPr>
              <a:t>роботизации</a:t>
            </a:r>
            <a:r>
              <a:rPr sz="1100" b="1" dirty="0">
                <a:solidFill>
                  <a:srgbClr val="030D1E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64282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7591AE"/>
                </a:solidFill>
                <a:latin typeface="Arial"/>
              </a:rPr>
              <a:t>Предложения по развитию сформированы на основе ограничений и структуры текущего проекта.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1465</Words>
  <Application>Microsoft Office PowerPoint</Application>
  <PresentationFormat>Широкоэкранный</PresentationFormat>
  <Paragraphs>266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Century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Никита</dc:creator>
  <cp:keywords/>
  <dc:description>generated using python-pptx</dc:description>
  <cp:lastModifiedBy>nik nik</cp:lastModifiedBy>
  <cp:revision>3</cp:revision>
  <dcterms:created xsi:type="dcterms:W3CDTF">2013-01-27T09:14:16Z</dcterms:created>
  <dcterms:modified xsi:type="dcterms:W3CDTF">2026-09-13T17:29:48Z</dcterms:modified>
  <cp:category/>
</cp:coreProperties>
</file>